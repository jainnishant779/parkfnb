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7.xml"/><Relationship Id="rId4" Type="http://schemas.openxmlformats.org/officeDocument/2006/relationships/slide" Target="slide15.xml"/><Relationship Id="rId5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0.xml"/><Relationship Id="rId4" Type="http://schemas.openxmlformats.org/officeDocument/2006/relationships/slide" Target="slide15.xml"/><Relationship Id="rId5" Type="http://schemas.openxmlformats.org/officeDocument/2006/relationships/slide" Target="slide7.xml"/><Relationship Id="rId6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0.xml"/><Relationship Id="rId4" Type="http://schemas.openxmlformats.org/officeDocument/2006/relationships/slide" Target="slide15.xml"/><Relationship Id="rId5" Type="http://schemas.openxmlformats.org/officeDocument/2006/relationships/slide" Target="slide7.xml"/><Relationship Id="rId6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0.xml"/><Relationship Id="rId4" Type="http://schemas.openxmlformats.org/officeDocument/2006/relationships/slide" Target="slide15.xml"/><Relationship Id="rId5" Type="http://schemas.openxmlformats.org/officeDocument/2006/relationships/slide" Target="slide7.xml"/><Relationship Id="rId6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15.xml"/><Relationship Id="rId4" Type="http://schemas.openxmlformats.org/officeDocument/2006/relationships/slide" Target="slide7.xml"/><Relationship Id="rId5" Type="http://schemas.openxmlformats.org/officeDocument/2006/relationships/slide" Target="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F31"/>
              </a:gs>
              <a:gs pos="100000">
                <a:srgbClr val="1D3E5E"/>
              </a:gs>
            </a:gsLst>
            <a:lin scaled="0" ang="1980000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320000">
            <a:off x="6903720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7324344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320000">
            <a:off x="7744968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320000">
            <a:off x="8165592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320000">
            <a:off x="8586216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320000">
            <a:off x="9006840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320000">
            <a:off x="9427464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320000">
            <a:off x="9848088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320000">
            <a:off x="10268712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320000">
            <a:off x="10689336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320000">
            <a:off x="11109960" y="5138928"/>
            <a:ext cx="68580" cy="118872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1883664"/>
            <a:ext cx="566928" cy="45720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139696"/>
            <a:ext cx="6583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800" b="1" spc="240">
                <a:solidFill>
                  <a:srgbClr val="FFFFFF"/>
                </a:solidFill>
                <a:latin typeface="Segoe UI"/>
                <a:cs typeface="Segoe UI"/>
              </a:rPr>
              <a:t>PARKFNB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035808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FDCE7"/>
                </a:solidFill>
                <a:latin typeface="Segoe UI"/>
                <a:cs typeface="Segoe UI"/>
              </a:rPr>
              <a:t>The operating layer for fragmented urban parking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822191"/>
            <a:ext cx="530352" cy="26517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4A66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822191"/>
            <a:ext cx="5303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CFDCE7"/>
                </a:solidFill>
                <a:latin typeface="Segoe UI"/>
                <a:cs typeface="Segoe UI"/>
              </a:rPr>
              <a:t>FIND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99616" y="3822191"/>
            <a:ext cx="722376" cy="26517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4A66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9616" y="3822191"/>
            <a:ext cx="72237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CFDCE7"/>
                </a:solidFill>
                <a:latin typeface="Segoe UI"/>
                <a:cs typeface="Segoe UI"/>
              </a:rPr>
              <a:t>PROTECT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0008" y="3822191"/>
            <a:ext cx="914400" cy="26517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4A66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3822191"/>
            <a:ext cx="9144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CFDCE7"/>
                </a:solidFill>
                <a:latin typeface="Segoe UI"/>
                <a:cs typeface="Segoe UI"/>
              </a:rPr>
              <a:t>SPECIALIZE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2424" y="3822191"/>
            <a:ext cx="658368" cy="26517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4A66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92424" y="3822191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CFDCE7"/>
                </a:solidFill>
                <a:latin typeface="Segoe UI"/>
                <a:cs typeface="Segoe UI"/>
              </a:rPr>
              <a:t>MANAGE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78808" y="3822191"/>
            <a:ext cx="786384" cy="26517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4A66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8808" y="3822191"/>
            <a:ext cx="78638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CFDCE7"/>
                </a:solidFill>
                <a:latin typeface="Segoe UI"/>
                <a:cs typeface="Segoe UI"/>
              </a:rPr>
              <a:t>MONETIZE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5084064"/>
            <a:ext cx="4160520" cy="0"/>
          </a:xfrm>
          <a:prstGeom prst="line">
            <a:avLst/>
          </a:prstGeom>
          <a:ln w="9525">
            <a:solidFill>
              <a:srgbClr val="2440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530352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80">
                <a:solidFill>
                  <a:srgbClr val="8FA5B7"/>
                </a:solidFill>
                <a:latin typeface="Segoe UI"/>
                <a:cs typeface="Segoe UI"/>
              </a:rPr>
              <a:t>Seed Round  ·  2026  ·  Indore, Madhya Pradesh, India</a:t>
            </a:r>
          </a:p>
        </p:txBody>
      </p:sp>
      <p:pic>
        <p:nvPicPr>
          <p:cNvPr id="29" name="Picture 2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298448"/>
            <a:ext cx="3712463" cy="371246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35824" y="4846320"/>
            <a:ext cx="3931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8FA5B7"/>
                </a:solidFill>
                <a:latin typeface="Segoe UI"/>
                <a:cs typeface="Segoe UI"/>
              </a:rPr>
              <a:t>One network connecting demand, physical access,</a:t>
            </a:r>
          </a:p>
          <a:p>
            <a:pPr algn="ctr">
              <a:lnSpc>
                <a:spcPct val="135000"/>
              </a:lnSpc>
            </a:pPr>
            <a:r>
              <a:rPr sz="950" b="0">
                <a:solidFill>
                  <a:srgbClr val="8FA5B7"/>
                </a:solidFill>
                <a:latin typeface="Segoe UI"/>
                <a:cs typeface="Segoe UI"/>
              </a:rPr>
              <a:t>live occupancy and idle capacity.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8FA5B7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58368" y="6364224"/>
            <a:ext cx="453134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What this deck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Four sections. Click any line to jump straight to it — or use the section bar at the top of every slide.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658368" y="2011680"/>
            <a:ext cx="10875233" cy="786384"/>
          </a:xfrm>
          <a:prstGeom prst="roundRect">
            <a:avLst>
              <a:gd name="adj" fmla="val 1279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50292" cy="78638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11680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AFBCC7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6" y="21762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4283C"/>
                </a:solidFill>
                <a:latin typeface="Segoe UI Semibold"/>
                <a:cs typeface="Segoe UI Semibold"/>
              </a:rPr>
              <a:t>The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6" y="246888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A broken parking ecosystem, five demand journeys, and a market already digitising.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2081" y="2011680"/>
            <a:ext cx="402336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AFBCC7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658368" y="2880360"/>
            <a:ext cx="10875233" cy="786384"/>
          </a:xfrm>
          <a:prstGeom prst="roundRect">
            <a:avLst>
              <a:gd name="adj" fmla="val 1279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880360"/>
            <a:ext cx="50292" cy="786384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880360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AFBCC7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304495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4283C"/>
                </a:solidFill>
                <a:latin typeface="Segoe UI Semibold"/>
                <a:cs typeface="Segoe UI Semibold"/>
              </a:rPr>
              <a:t>The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6" y="33375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One operating layer: discovery, physical access, live vision and space creation.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2081" y="2880360"/>
            <a:ext cx="402336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AFBCC7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658368" y="3749039"/>
            <a:ext cx="10875233" cy="786384"/>
          </a:xfrm>
          <a:prstGeom prst="roundRect">
            <a:avLst>
              <a:gd name="adj" fmla="val 1279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749039"/>
            <a:ext cx="50292" cy="786384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749039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AFBCC7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2496" y="3913631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4283C"/>
                </a:solidFill>
                <a:latin typeface="Segoe UI Semibold"/>
                <a:cs typeface="Segoe UI Semibold"/>
              </a:rPr>
              <a:t>The 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496" y="420624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Unit economics, revenue model, the gap we close and why it compounds.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2081" y="3749039"/>
            <a:ext cx="402336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AFBCC7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658368" y="4617720"/>
            <a:ext cx="10875233" cy="786384"/>
          </a:xfrm>
          <a:prstGeom prst="roundRect">
            <a:avLst>
              <a:gd name="adj" fmla="val 1279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50292" cy="786384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617720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AFBCC7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2496" y="47823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4283C"/>
                </a:solidFill>
                <a:latin typeface="Segoe UI Semibold"/>
                <a:cs typeface="Segoe UI Semibold"/>
              </a:rPr>
              <a:t>The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2496" y="50749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What is built today, how we go to market, and what the seed round buys.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2081" y="4617720"/>
            <a:ext cx="402336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1">
                <a:solidFill>
                  <a:srgbClr val="AFBCC7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spc="20">
                <a:solidFill>
                  <a:srgbClr val="14283C"/>
                </a:solidFill>
                <a:latin typeface="Segoe UI"/>
                <a:cs typeface="Segoe UI"/>
              </a:rPr>
              <a:t>Every figure marked illustrative is scenario math from stated assumptions — pilot data replaces it as it lands.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02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8368" y="6364224"/>
            <a:ext cx="906269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F31"/>
              </a:gs>
              <a:gs pos="100000">
                <a:srgbClr val="1D3E5E"/>
              </a:gs>
            </a:gsLst>
            <a:lin scaled="0" ang="1980000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320000">
            <a:off x="8138160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8613648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320000">
            <a:off x="9089136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320000">
            <a:off x="9564624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320000">
            <a:off x="10040112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320000">
            <a:off x="10515600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320000">
            <a:off x="10991088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0" b="0" spc="-150">
                <a:solidFill>
                  <a:srgbClr val="274E72"/>
                </a:solidFill>
                <a:latin typeface="Segoe UI Light"/>
                <a:cs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1031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50">
                <a:solidFill>
                  <a:srgbClr val="D8A24C"/>
                </a:solidFill>
                <a:latin typeface="Segoe UI"/>
                <a:cs typeface="Segoe UI"/>
              </a:rPr>
              <a:t>SECTION ONE OF FOUR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395728"/>
            <a:ext cx="45720" cy="153619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2432304"/>
            <a:ext cx="6400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400" b="1" spc="-40">
                <a:solidFill>
                  <a:srgbClr val="FFFFFF"/>
                </a:solidFill>
                <a:latin typeface="Segoe UI"/>
                <a:cs typeface="Segoe UI"/>
              </a:rPr>
              <a:t>The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3035808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FDCE7"/>
                </a:solidFill>
                <a:latin typeface="Segoe UI"/>
                <a:cs typeface="Segoe UI"/>
              </a:rPr>
              <a:t>Parking is not one problem. It is five, and they are all failures of the same missing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3749039"/>
            <a:ext cx="1411833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3749039"/>
            <a:ext cx="1411833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A BROKEN ECOSYSTEM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6473" y="3749039"/>
            <a:ext cx="1536192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6473" y="3749039"/>
            <a:ext cx="15361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FIVE DEMAND JOURNEYS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10681" y="3749039"/>
            <a:ext cx="727862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0681" y="3749039"/>
            <a:ext cx="72786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WHY NOW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8FA5B7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6364224"/>
            <a:ext cx="1359404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Parking is not one problem — it is a broken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Demand exists. Space exists. Infrastructure exists. What is missing is the digital layer connecting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01952"/>
            <a:ext cx="50292" cy="345643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AF2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5824" y="2321551"/>
            <a:ext cx="178198" cy="178198"/>
          </a:xfrm>
          <a:prstGeom prst="ellipse">
            <a:avLst/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25588" y="2487460"/>
            <a:ext cx="86027" cy="86027"/>
          </a:xfrm>
          <a:prstGeom prst="line">
            <a:avLst/>
          </a:prstGeom>
          <a:ln w="22225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Destination uncertainty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3639312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32688" y="3822191"/>
            <a:ext cx="1483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Drivers heading to markets, offices or hospitals cannot verify open parking in advance.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791456"/>
            <a:ext cx="148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20" b="1" spc="110">
                <a:solidFill>
                  <a:srgbClr val="647585"/>
                </a:solidFill>
                <a:latin typeface="Segoe UI"/>
                <a:cs typeface="Segoe UI"/>
              </a:rPr>
              <a:t>WHO IT HURTS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92624"/>
            <a:ext cx="1483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>
                <a:solidFill>
                  <a:srgbClr val="14283C"/>
                </a:solidFill>
                <a:latin typeface="Segoe UI"/>
                <a:cs typeface="Segoe UI"/>
              </a:rPr>
              <a:t>Drivers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7364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73648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4796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4960" y="2321551"/>
            <a:ext cx="258080" cy="258080"/>
          </a:xfrm>
          <a:prstGeom prst="ellips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330263" y="2376854"/>
            <a:ext cx="147474" cy="147475"/>
          </a:xfrm>
          <a:prstGeom prst="line">
            <a:avLst/>
          </a:prstGeom>
          <a:ln w="2032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47968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Unauthorised usage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47968" y="3639312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47968" y="3822191"/>
            <a:ext cx="1483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Private plot and driveway owners face squatting, with little control over who parks there.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7968" y="4791456"/>
            <a:ext cx="148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20" b="1" spc="110">
                <a:solidFill>
                  <a:srgbClr val="647585"/>
                </a:solidFill>
                <a:latin typeface="Segoe UI"/>
                <a:cs typeface="Segoe UI"/>
              </a:rPr>
              <a:t>WHO IT HURTS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7968" y="4992624"/>
            <a:ext cx="1483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>
                <a:solidFill>
                  <a:srgbClr val="14283C"/>
                </a:solidFill>
                <a:latin typeface="Segoe UI"/>
                <a:cs typeface="Segoe UI"/>
              </a:rPr>
              <a:t>Space owners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8892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88928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6324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96385" y="2346130"/>
            <a:ext cx="245790" cy="172053"/>
          </a:xfrm>
          <a:prstGeom prst="roundRect">
            <a:avLst>
              <a:gd name="adj" fmla="val 17857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496385" y="2432157"/>
            <a:ext cx="245790" cy="0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619280" y="2346130"/>
            <a:ext cx="0" cy="86027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528645" y="2507431"/>
            <a:ext cx="46085" cy="46085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3830" y="2507431"/>
            <a:ext cx="46085" cy="46085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3248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Large-vehicle friction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63248" y="3639312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63248" y="3822191"/>
            <a:ext cx="1483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Buses, shuttles and logistics fleets need turning radius, clearance and legal waiting space.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3248" y="4791456"/>
            <a:ext cx="148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20" b="1" spc="110">
                <a:solidFill>
                  <a:srgbClr val="647585"/>
                </a:solidFill>
                <a:latin typeface="Segoe UI"/>
                <a:cs typeface="Segoe UI"/>
              </a:rPr>
              <a:t>WHO IT HURTS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63248" y="4992624"/>
            <a:ext cx="1483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>
                <a:solidFill>
                  <a:srgbClr val="14283C"/>
                </a:solidFill>
                <a:latin typeface="Segoe UI"/>
                <a:cs typeface="Segoe UI"/>
              </a:rPr>
              <a:t>Fleet operators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420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04208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57852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 rot="20400000">
            <a:off x="7717810" y="2370710"/>
            <a:ext cx="190487" cy="92171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71429" y="2358420"/>
            <a:ext cx="61447" cy="61447"/>
          </a:xfrm>
          <a:prstGeom prst="ellips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7785402" y="2444447"/>
            <a:ext cx="0" cy="11675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36244" y="2561197"/>
            <a:ext cx="98316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578528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Under-managed lots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78528" y="3639312"/>
            <a:ext cx="146547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78528" y="3822191"/>
            <a:ext cx="1483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Commercial lots hold real capacity but still run on manual entry and passive CCTV.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8528" y="4791456"/>
            <a:ext cx="148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20" b="1" spc="110">
                <a:solidFill>
                  <a:srgbClr val="647585"/>
                </a:solidFill>
                <a:latin typeface="Segoe UI"/>
                <a:cs typeface="Segoe UI"/>
              </a:rPr>
              <a:t>WHO IT HURTS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8528" y="4992624"/>
            <a:ext cx="1483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>
                <a:solidFill>
                  <a:srgbClr val="14283C"/>
                </a:solidFill>
                <a:latin typeface="Segoe UI"/>
                <a:cs typeface="Segoe UI"/>
              </a:rPr>
              <a:t>Lot operators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19489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19489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793809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920801" y="2321551"/>
            <a:ext cx="258080" cy="258080"/>
          </a:xfrm>
          <a:prstGeom prst="ellips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0049841" y="2376854"/>
            <a:ext cx="0" cy="73738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049841" y="2450592"/>
            <a:ext cx="61447" cy="24579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793809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Idle capacity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793809" y="3639312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793809" y="3822191"/>
            <a:ext cx="1483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Owners have no end-to-end tool for listing, booking, access, payment and payout.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93809" y="4791456"/>
            <a:ext cx="148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20" b="1" spc="110">
                <a:solidFill>
                  <a:srgbClr val="647585"/>
                </a:solidFill>
                <a:latin typeface="Segoe UI"/>
                <a:cs typeface="Segoe UI"/>
              </a:rPr>
              <a:t>WHO IT HURTS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93809" y="4992624"/>
            <a:ext cx="1483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>
                <a:solidFill>
                  <a:srgbClr val="14283C"/>
                </a:solidFill>
                <a:latin typeface="Segoe UI"/>
                <a:cs typeface="Segoe UI"/>
              </a:rPr>
              <a:t>Space owners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20">
                <a:solidFill>
                  <a:srgbClr val="FFFFFF"/>
                </a:solidFill>
                <a:latin typeface="Segoe UI"/>
                <a:cs typeface="Segoe UI"/>
              </a:rPr>
              <a:t>Parkfnb turns fragmented parking capacity into a connected, bookable and controllable network.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70" name="Rectangle 69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72" name="Rectangle 71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74" name="Rectangle 73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76" name="Rectangle 75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OPPORTUNITY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8921" y="603504"/>
            <a:ext cx="86410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58368" y="6364224"/>
            <a:ext cx="1812538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Five everyday parking journeys. One missing 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The same failure repeats at offices, markets, temples, tourist destinations and transport hubs.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9679" y="2395289"/>
            <a:ext cx="258080" cy="159763"/>
          </a:xfrm>
          <a:prstGeom prst="roundRect">
            <a:avLst>
              <a:gd name="adj" fmla="val 13461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145706" y="2352275"/>
            <a:ext cx="0" cy="43014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31733" y="2352275"/>
            <a:ext cx="0" cy="43014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5706" y="2352275"/>
            <a:ext cx="86027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9679" y="2462881"/>
            <a:ext cx="258081" cy="0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Corporate employee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02736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Needs predictable parking near the office, usually at a fixed arrival time.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4645152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2688" y="48280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82803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7364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73648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4796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81104" y="2346130"/>
            <a:ext cx="245790" cy="172053"/>
          </a:xfrm>
          <a:prstGeom prst="roundRect">
            <a:avLst>
              <a:gd name="adj" fmla="val 17857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281104" y="2432157"/>
            <a:ext cx="245791" cy="0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04000" y="2346130"/>
            <a:ext cx="0" cy="86027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313364" y="2507431"/>
            <a:ext cx="46085" cy="46085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48549" y="2507431"/>
            <a:ext cx="46085" cy="46085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7968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Staff / corporate bus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7968" y="3602736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Needs safe, legal short-duration waiting and pickup space.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47968" y="4645152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147968" y="48280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7968" y="482803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TRANSIT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892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88928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6324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rapezoid 36"/>
          <p:cNvSpPr/>
          <p:nvPr/>
        </p:nvSpPr>
        <p:spPr>
          <a:xfrm rot="10800000">
            <a:off x="5484095" y="2346130"/>
            <a:ext cx="270369" cy="61447"/>
          </a:xfrm>
          <a:prstGeom prst="trapezoid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08674" y="2407578"/>
            <a:ext cx="221211" cy="153619"/>
          </a:xfrm>
          <a:prstGeom prst="rect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57832" y="2469026"/>
            <a:ext cx="67592" cy="92171"/>
          </a:xfrm>
          <a:prstGeom prst="rect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656149" y="2450592"/>
            <a:ext cx="49158" cy="0"/>
          </a:xfrm>
          <a:prstGeom prst="line">
            <a:avLst/>
          </a:prstGeom>
          <a:ln w="1143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656149" y="2487460"/>
            <a:ext cx="49158" cy="0"/>
          </a:xfrm>
          <a:prstGeom prst="line">
            <a:avLst/>
          </a:prstGeom>
          <a:ln w="1143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63248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Shopper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3248" y="3602736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Reaches a market or high street and only then discovers whether parking exists.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63248" y="4645152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363248" y="48280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63248" y="482803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SHOP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0420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04208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7852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11665" y="2333841"/>
            <a:ext cx="245790" cy="79881"/>
          </a:xfrm>
          <a:prstGeom prst="triangl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773113" y="2426012"/>
            <a:ext cx="0" cy="110606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34560" y="2426012"/>
            <a:ext cx="0" cy="110606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896008" y="2426012"/>
            <a:ext cx="0" cy="110606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11665" y="2419868"/>
            <a:ext cx="245791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699376" y="2555053"/>
            <a:ext cx="270369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78528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Tourist / pilgrim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78528" y="3602736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Travels to a temple or attraction with uncertain, peak-loaded nearby parking.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78528" y="4645152"/>
            <a:ext cx="146547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578528" y="48280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78528" y="482803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VISIT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19489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19489" y="1901952"/>
            <a:ext cx="50292" cy="345643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793809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14656" y="2376854"/>
            <a:ext cx="153619" cy="135184"/>
          </a:xfrm>
          <a:prstGeom prst="rect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068275" y="2419868"/>
            <a:ext cx="110605" cy="92171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946916" y="2507431"/>
            <a:ext cx="46085" cy="46085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094390" y="2507431"/>
            <a:ext cx="46085" cy="46085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93809" y="2907792"/>
            <a:ext cx="1483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>
                <a:solidFill>
                  <a:srgbClr val="14283C"/>
                </a:solidFill>
                <a:latin typeface="Segoe UI Semibold"/>
                <a:cs typeface="Segoe UI Semibold"/>
              </a:rPr>
              <a:t>Commercial / fleet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93809" y="3602736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80" b="0">
                <a:solidFill>
                  <a:srgbClr val="4E6274"/>
                </a:solidFill>
                <a:latin typeface="Segoe UI"/>
                <a:cs typeface="Segoe UI"/>
              </a:rPr>
              <a:t>Needs short-duration loading, service or fleet parking near a destination.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793809" y="4645152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793809" y="48280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93809" y="482803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FLEET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20">
                <a:solidFill>
                  <a:srgbClr val="FFFFFF"/>
                </a:solidFill>
                <a:latin typeface="Segoe UI"/>
                <a:cs typeface="Segoe UI"/>
              </a:rPr>
              <a:t>Common demand signal: “I am going to X — show me a trusted place to park there, for my time window.”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79" name="Rectangle 78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81" name="Rectangle 80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83" name="Rectangle 82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85" name="Rectangle 84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OPPORTUNITY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78921" y="603504"/>
            <a:ext cx="86410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58368" y="6364224"/>
            <a:ext cx="2265673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WHY NOW ·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A large market, already digitising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Vehicle growth, dense urban cores and cheap edge compute are converging at the same time.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6400800" cy="3456432"/>
          </a:xfrm>
          <a:prstGeom prst="roundRect">
            <a:avLst>
              <a:gd name="adj" fmla="val 291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>
            <a:outerShdw blurRad="114300" dist="25400" dir="5400000" rotWithShape="0">
              <a:srgbClr val="14283C">
                <a:alpha val="13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7627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40">
                <a:solidFill>
                  <a:srgbClr val="23788F"/>
                </a:solidFill>
                <a:latin typeface="Segoe UI"/>
                <a:cs typeface="Segoe UI"/>
              </a:rPr>
              <a:t>INDIA SMART-PARKING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323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>
                <a:solidFill>
                  <a:srgbClr val="647585"/>
                </a:solidFill>
                <a:latin typeface="Segoe UI"/>
                <a:cs typeface="Segoe UI"/>
              </a:rPr>
              <a:t>Market size, US$ billions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7904" y="4672583"/>
            <a:ext cx="5175504" cy="0"/>
          </a:xfrm>
          <a:prstGeom prst="line">
            <a:avLst/>
          </a:prstGeom>
          <a:ln w="9525">
            <a:solidFill>
              <a:srgbClr val="AFB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458114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7904" y="4137006"/>
            <a:ext cx="517550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2688" y="4045566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17904" y="3601429"/>
            <a:ext cx="517550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3509989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17904" y="3065852"/>
            <a:ext cx="517550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2688" y="2974412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19" name="Freeform 18"/>
          <p:cNvSpPr/>
          <p:nvPr/>
        </p:nvSpPr>
        <p:spPr>
          <a:xfrm>
            <a:off x="1517904" y="2972127"/>
            <a:ext cx="5175504" cy="1700457"/>
          </a:xfrm>
          <a:custGeom>
            <a:avLst/>
            <a:gdLst/>
            <a:ahLst/>
            <a:cxnLst/>
            <a:rect l="l" t="t" r="r" b="b"/>
            <a:pathLst>
              <a:path w="5175504" h="1700457">
                <a:moveTo>
                  <a:pt x="0" y="1044375"/>
                </a:moveTo>
                <a:lnTo>
                  <a:pt x="862584" y="931904"/>
                </a:lnTo>
                <a:lnTo>
                  <a:pt x="1725168" y="799348"/>
                </a:lnTo>
                <a:lnTo>
                  <a:pt x="2587752" y="644031"/>
                </a:lnTo>
                <a:lnTo>
                  <a:pt x="3450336" y="461935"/>
                </a:lnTo>
                <a:lnTo>
                  <a:pt x="4312920" y="249043"/>
                </a:lnTo>
                <a:lnTo>
                  <a:pt x="5175504" y="0"/>
                </a:lnTo>
                <a:lnTo>
                  <a:pt x="5175504" y="1700457"/>
                </a:lnTo>
                <a:lnTo>
                  <a:pt x="0" y="1700457"/>
                </a:lnTo>
                <a:close/>
              </a:path>
            </a:pathLst>
          </a:custGeom>
          <a:solidFill>
            <a:srgbClr val="23788F">
              <a:alpha val="1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1517904" y="3904031"/>
            <a:ext cx="862584" cy="112471"/>
          </a:xfrm>
          <a:prstGeom prst="line">
            <a:avLst/>
          </a:prstGeom>
          <a:ln w="254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380488" y="3771475"/>
            <a:ext cx="862584" cy="132556"/>
          </a:xfrm>
          <a:prstGeom prst="line">
            <a:avLst/>
          </a:prstGeom>
          <a:ln w="254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243072" y="3616158"/>
            <a:ext cx="862584" cy="155317"/>
          </a:xfrm>
          <a:prstGeom prst="line">
            <a:avLst/>
          </a:prstGeom>
          <a:ln w="254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05656" y="3434062"/>
            <a:ext cx="862584" cy="182096"/>
          </a:xfrm>
          <a:prstGeom prst="line">
            <a:avLst/>
          </a:prstGeom>
          <a:ln w="254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968240" y="3221170"/>
            <a:ext cx="862584" cy="212892"/>
          </a:xfrm>
          <a:prstGeom prst="line">
            <a:avLst/>
          </a:prstGeom>
          <a:ln w="254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830824" y="2972127"/>
            <a:ext cx="862584" cy="249043"/>
          </a:xfrm>
          <a:prstGeom prst="line">
            <a:avLst/>
          </a:prstGeom>
          <a:ln w="254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458468" y="3957065"/>
            <a:ext cx="118872" cy="118872"/>
          </a:xfrm>
          <a:prstGeom prst="ellipse">
            <a:avLst/>
          </a:prstGeom>
          <a:solidFill>
            <a:srgbClr val="23788F"/>
          </a:solidFill>
          <a:ln w="254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3972" y="2912690"/>
            <a:ext cx="118872" cy="118872"/>
          </a:xfrm>
          <a:prstGeom prst="ellipse">
            <a:avLst/>
          </a:prstGeom>
          <a:solidFill>
            <a:srgbClr val="23788F"/>
          </a:solidFill>
          <a:ln w="254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7" y="4764023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1">
                <a:solidFill>
                  <a:srgbClr val="4E6274"/>
                </a:solidFill>
                <a:latin typeface="Segoe UI"/>
                <a:cs typeface="Segoe UI"/>
              </a:rPr>
              <a:t>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9592" y="4764023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0">
                <a:solidFill>
                  <a:srgbClr val="647585"/>
                </a:solidFill>
                <a:latin typeface="Segoe UI"/>
                <a:cs typeface="Segoe UI"/>
              </a:rPr>
              <a:t>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2176" y="4764023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0">
                <a:solidFill>
                  <a:srgbClr val="647585"/>
                </a:solidFill>
                <a:latin typeface="Segoe UI"/>
                <a:cs typeface="Segoe UI"/>
              </a:rPr>
              <a:t>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764023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0">
                <a:solidFill>
                  <a:srgbClr val="647585"/>
                </a:solidFill>
                <a:latin typeface="Segoe UI"/>
                <a:cs typeface="Segoe UI"/>
              </a:rPr>
              <a:t>2028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7344" y="4764023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0">
                <a:solidFill>
                  <a:srgbClr val="647585"/>
                </a:solidFill>
                <a:latin typeface="Segoe UI"/>
                <a:cs typeface="Segoe UI"/>
              </a:rPr>
              <a:t>2029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9928" y="4764023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0">
                <a:solidFill>
                  <a:srgbClr val="647585"/>
                </a:solidFill>
                <a:latin typeface="Segoe UI"/>
                <a:cs typeface="Segoe UI"/>
              </a:rPr>
              <a:t>2030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764023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1">
                <a:solidFill>
                  <a:srgbClr val="4E6274"/>
                </a:solidFill>
                <a:latin typeface="Segoe UI"/>
                <a:cs typeface="Segoe UI"/>
              </a:rPr>
              <a:t>2031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6463" y="368731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>
                <a:solidFill>
                  <a:srgbClr val="14283C"/>
                </a:solidFill>
                <a:latin typeface="Segoe UI"/>
                <a:cs typeface="Segoe UI"/>
              </a:rPr>
              <a:t>$4.9B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7568" y="262465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300" b="1">
                <a:solidFill>
                  <a:srgbClr val="14283C"/>
                </a:solidFill>
                <a:latin typeface="Segoe UI"/>
                <a:cs typeface="Segoe UI"/>
              </a:rPr>
              <a:t>$12.7B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17493" y="3387198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FAF2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17493" y="3387198"/>
            <a:ext cx="12252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19" b="1" spc="90">
                <a:solidFill>
                  <a:srgbClr val="9C6A1C"/>
                </a:solidFill>
                <a:latin typeface="Segoe UI"/>
                <a:cs typeface="Segoe UI"/>
              </a:rPr>
              <a:t>17.6% CAGR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5047488"/>
            <a:ext cx="57790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0">
                <a:solidFill>
                  <a:srgbClr val="647585"/>
                </a:solidFill>
                <a:latin typeface="Segoe UI"/>
                <a:cs typeface="Segoe UI"/>
              </a:rPr>
              <a:t>2025 and 2031 are cited third-party estimates; intermediate years interpolated at the cited CAGR.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1938528"/>
            <a:ext cx="40903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40">
                <a:solidFill>
                  <a:srgbClr val="23788F"/>
                </a:solidFill>
                <a:latin typeface="Segoe UI"/>
                <a:cs typeface="Segoe UI"/>
              </a:rPr>
              <a:t>WHY NOW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43216" y="2286000"/>
            <a:ext cx="4090385" cy="896112"/>
          </a:xfrm>
          <a:prstGeom prst="roundRect">
            <a:avLst>
              <a:gd name="adj" fmla="val 11224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62672" y="25054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0571" y="2668219"/>
            <a:ext cx="137160" cy="120700"/>
          </a:xfrm>
          <a:prstGeom prst="rect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07731" y="2706624"/>
            <a:ext cx="98755" cy="82296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99374" y="2784805"/>
            <a:ext cx="41148" cy="41148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31048" y="2784805"/>
            <a:ext cx="41148" cy="41148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47888" y="2468880"/>
            <a:ext cx="3084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Vehicles outpacing built parking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2743200"/>
            <a:ext cx="30845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4E6274"/>
                </a:solidFill>
                <a:latin typeface="Segoe UI"/>
                <a:cs typeface="Segoe UI"/>
              </a:rPr>
              <a:t>300M+ registered vehicles against urban cores that cannot add supply.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43216" y="3328415"/>
            <a:ext cx="4090385" cy="896112"/>
          </a:xfrm>
          <a:prstGeom prst="roundRect">
            <a:avLst>
              <a:gd name="adj" fmla="val 11224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662672" y="35478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 rot="20400000">
            <a:off x="7787030" y="3705148"/>
            <a:ext cx="170078" cy="82296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24190" y="3694176"/>
            <a:ext cx="54864" cy="54864"/>
          </a:xfrm>
          <a:prstGeom prst="ellips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847380" y="3770985"/>
            <a:ext cx="0" cy="104242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803489" y="3875227"/>
            <a:ext cx="87783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247888" y="3511296"/>
            <a:ext cx="3084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Edge compute got cheap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3785615"/>
            <a:ext cx="30845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4E6274"/>
                </a:solidFill>
                <a:latin typeface="Segoe UI"/>
                <a:cs typeface="Segoe UI"/>
              </a:rPr>
              <a:t>Camera-based occupancy no longer needs a sensor in every single bay.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43216" y="4370831"/>
            <a:ext cx="4090385" cy="896112"/>
          </a:xfrm>
          <a:prstGeom prst="roundRect">
            <a:avLst>
              <a:gd name="adj" fmla="val 11224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662672" y="45902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825435" y="4703673"/>
            <a:ext cx="131673" cy="230428"/>
          </a:xfrm>
          <a:prstGeom prst="roundRect">
            <a:avLst>
              <a:gd name="adj" fmla="val 18750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869326" y="4736591"/>
            <a:ext cx="43891" cy="0"/>
          </a:xfrm>
          <a:prstGeom prst="line">
            <a:avLst/>
          </a:prstGeom>
          <a:ln w="1143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878927" y="4886096"/>
            <a:ext cx="24688" cy="24688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47888" y="4553712"/>
            <a:ext cx="3084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Digital payments are ambient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7888" y="4828031"/>
            <a:ext cx="30845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4E6274"/>
                </a:solidFill>
                <a:latin typeface="Segoe UI"/>
                <a:cs typeface="Segoe UI"/>
              </a:rPr>
              <a:t>UPI makes hourly micro-transactions and instant owner payouts routine.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20">
                <a:solidFill>
                  <a:srgbClr val="FFFFFF"/>
                </a:solidFill>
                <a:latin typeface="Segoe UI"/>
                <a:cs typeface="Segoe UI"/>
              </a:rPr>
              <a:t>Fragmented private supply + under-managed lots + access hardware + occupancy data = a far broader opportunity than a discovery app.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70" name="Rectangle 69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72" name="Rectangle 71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74" name="Rectangle 73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76" name="Rectangle 75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OPPORTUNITY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8921" y="603504"/>
            <a:ext cx="86410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58368" y="6364224"/>
            <a:ext cx="2718808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F31"/>
              </a:gs>
              <a:gs pos="100000">
                <a:srgbClr val="1D3E5E"/>
              </a:gs>
            </a:gsLst>
            <a:lin scaled="0" ang="1980000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320000">
            <a:off x="8138160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8613648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320000">
            <a:off x="9089136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320000">
            <a:off x="9564624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320000">
            <a:off x="10040112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320000">
            <a:off x="10515600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320000">
            <a:off x="10991088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0" b="0" spc="-150">
                <a:solidFill>
                  <a:srgbClr val="274E72"/>
                </a:solidFill>
                <a:latin typeface="Segoe UI Light"/>
                <a:cs typeface="Segoe UI 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1031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50">
                <a:solidFill>
                  <a:srgbClr val="D8A24C"/>
                </a:solidFill>
                <a:latin typeface="Segoe UI"/>
                <a:cs typeface="Segoe UI"/>
              </a:rPr>
              <a:t>SECTION TWO OF FOUR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395728"/>
            <a:ext cx="45720" cy="153619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2432304"/>
            <a:ext cx="6400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400" b="1" spc="-40">
                <a:solidFill>
                  <a:srgbClr val="FFFFFF"/>
                </a:solidFill>
                <a:latin typeface="Segoe UI"/>
                <a:cs typeface="Segoe UI"/>
              </a:rPr>
              <a:t>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3035808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FDCE7"/>
                </a:solidFill>
                <a:latin typeface="Segoe UI"/>
                <a:cs typeface="Segoe UI"/>
              </a:rPr>
              <a:t>One connected layer across discovery, physical access, live vision and space creation.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3749039"/>
            <a:ext cx="1038758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3749039"/>
            <a:ext cx="103875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THE SOLUTION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3398" y="3749039"/>
            <a:ext cx="1100937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73398" y="3749039"/>
            <a:ext cx="110093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PRODUCT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3749039"/>
            <a:ext cx="1038758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3749039"/>
            <a:ext cx="103875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HOW IT WORKS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9126" y="3749039"/>
            <a:ext cx="1847088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126" y="3749039"/>
            <a:ext cx="18470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CREATE · MANAGE · PROTECT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4230" y="3749039"/>
            <a:ext cx="1100937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4230" y="3749039"/>
            <a:ext cx="110093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FLEET SEGMENT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8FA5B7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8368" y="6364224"/>
            <a:ext cx="3171943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Parkfnb: one operating layer across the parking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Not another parking app — a unified layer connecting demand, physical access and spatial management.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01952"/>
            <a:ext cx="2014112" cy="5029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AF2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6548" y="2312334"/>
            <a:ext cx="184343" cy="184343"/>
          </a:xfrm>
          <a:prstGeom prst="ellipse">
            <a:avLst/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996" y="2373782"/>
            <a:ext cx="61447" cy="61447"/>
          </a:xfrm>
          <a:prstGeom prst="ellipse">
            <a:avLst/>
          </a:prstGeom>
          <a:solidFill>
            <a:srgbClr val="9C6A1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1148779" y="2472098"/>
            <a:ext cx="79881" cy="98316"/>
          </a:xfrm>
          <a:prstGeom prst="triangle">
            <a:avLst/>
          </a:prstGeom>
          <a:solidFill>
            <a:srgbClr val="9C6A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89504"/>
            <a:ext cx="148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9C6A1C"/>
                </a:solidFill>
                <a:latin typeface="Segoe UI"/>
                <a:cs typeface="Segoe UI"/>
              </a:rPr>
              <a:t>FIND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163824"/>
            <a:ext cx="148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4283C"/>
                </a:solidFill>
                <a:latin typeface="Segoe UI Semibold"/>
                <a:cs typeface="Segoe UI Semibold"/>
              </a:rPr>
              <a:t>Drivers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" y="3657600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3858768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Discover nearby supply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Reserve a verified slot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Navigate and park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846320"/>
            <a:ext cx="1465472" cy="292608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46320"/>
            <a:ext cx="1465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10">
                <a:solidFill>
                  <a:srgbClr val="647585"/>
                </a:solidFill>
                <a:latin typeface="Segoe UI"/>
                <a:cs typeface="Segoe UI"/>
              </a:rPr>
              <a:t>NETWORK NODE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7364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73648" y="1901952"/>
            <a:ext cx="2014112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4796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99539" y="2432157"/>
            <a:ext cx="208922" cy="135184"/>
          </a:xfrm>
          <a:prstGeom prst="roundRect">
            <a:avLst>
              <a:gd name="adj" fmla="val 18181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87102" y="2476707"/>
            <a:ext cx="33796" cy="33796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342552" y="2376854"/>
            <a:ext cx="0" cy="55303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465447" y="2376854"/>
            <a:ext cx="0" cy="55303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342552" y="2376854"/>
            <a:ext cx="122895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47968" y="2889504"/>
            <a:ext cx="148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23788F"/>
                </a:solidFill>
                <a:latin typeface="Segoe UI"/>
                <a:cs typeface="Segoe UI"/>
              </a:rPr>
              <a:t>PROTECT &amp; 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7968" y="3163824"/>
            <a:ext cx="148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4283C"/>
                </a:solidFill>
                <a:latin typeface="Segoe UI Semibold"/>
                <a:cs typeface="Segoe UI Semibold"/>
              </a:rPr>
              <a:t>Space owners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47968" y="3657600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147968" y="3858768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List idle hours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Control physical access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Receive direct payout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47968" y="4846320"/>
            <a:ext cx="1465472" cy="292608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7968" y="4846320"/>
            <a:ext cx="1465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10">
                <a:solidFill>
                  <a:srgbClr val="647585"/>
                </a:solidFill>
                <a:latin typeface="Segoe UI"/>
                <a:cs typeface="Segoe UI"/>
              </a:rPr>
              <a:t>NETWORK NODE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892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88928" y="1901952"/>
            <a:ext cx="2014112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6324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96385" y="2346130"/>
            <a:ext cx="245790" cy="172053"/>
          </a:xfrm>
          <a:prstGeom prst="roundRect">
            <a:avLst>
              <a:gd name="adj" fmla="val 17857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496385" y="2432157"/>
            <a:ext cx="245790" cy="0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19280" y="2346130"/>
            <a:ext cx="0" cy="86027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528645" y="2507431"/>
            <a:ext cx="46085" cy="46085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3830" y="2507431"/>
            <a:ext cx="46085" cy="46085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63248" y="2889504"/>
            <a:ext cx="148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23788F"/>
                </a:solidFill>
                <a:latin typeface="Segoe UI"/>
                <a:cs typeface="Segoe UI"/>
              </a:rPr>
              <a:t>SPECIALIZE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3248" y="3163824"/>
            <a:ext cx="148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4283C"/>
                </a:solidFill>
                <a:latin typeface="Segoe UI Semibold"/>
                <a:cs typeface="Segoe UI Semibold"/>
              </a:rPr>
              <a:t>Buses &amp; fleets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363248" y="3657600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63248" y="3858768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Match vehicle dimensions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Reserve time slots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Use dedicated bays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63248" y="4846320"/>
            <a:ext cx="1465472" cy="292608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63248" y="4846320"/>
            <a:ext cx="1465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10">
                <a:solidFill>
                  <a:srgbClr val="647585"/>
                </a:solidFill>
                <a:latin typeface="Segoe UI"/>
                <a:cs typeface="Segoe UI"/>
              </a:rPr>
              <a:t>NETWORK NODE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04208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04208" y="1901952"/>
            <a:ext cx="2014112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578528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 rot="20400000">
            <a:off x="7717810" y="2370710"/>
            <a:ext cx="190487" cy="92171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871429" y="2358420"/>
            <a:ext cx="61447" cy="61447"/>
          </a:xfrm>
          <a:prstGeom prst="ellips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785402" y="2444447"/>
            <a:ext cx="0" cy="11675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36244" y="2561197"/>
            <a:ext cx="98316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578528" y="2889504"/>
            <a:ext cx="148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23788F"/>
                </a:solidFill>
                <a:latin typeface="Segoe UI"/>
                <a:cs typeface="Segoe UI"/>
              </a:rPr>
              <a:t>MANAGE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8528" y="3163824"/>
            <a:ext cx="148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4283C"/>
                </a:solidFill>
                <a:latin typeface="Segoe UI Semibold"/>
                <a:cs typeface="Segoe UI Semibold"/>
              </a:rPr>
              <a:t>Operators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578528" y="3657600"/>
            <a:ext cx="146547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78528" y="3858768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CCTV edge AI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ANPR + barriers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Occupancy + pricing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78528" y="4846320"/>
            <a:ext cx="1465472" cy="292608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78528" y="4846320"/>
            <a:ext cx="1465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10">
                <a:solidFill>
                  <a:srgbClr val="647585"/>
                </a:solidFill>
                <a:latin typeface="Segoe UI"/>
                <a:cs typeface="Segoe UI"/>
              </a:rPr>
              <a:t>NETWORK NODE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19489" y="1901952"/>
            <a:ext cx="2014112" cy="3456432"/>
          </a:xfrm>
          <a:prstGeom prst="roundRect">
            <a:avLst>
              <a:gd name="adj" fmla="val 499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19489" y="1901952"/>
            <a:ext cx="2014112" cy="5029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793809" y="21945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AF2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20801" y="2352275"/>
            <a:ext cx="258080" cy="196632"/>
          </a:xfrm>
          <a:prstGeom prst="roundRect">
            <a:avLst>
              <a:gd name="adj" fmla="val 9375"/>
            </a:avLst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9994538" y="2352275"/>
            <a:ext cx="0" cy="98317"/>
          </a:xfrm>
          <a:prstGeom prst="line">
            <a:avLst/>
          </a:prstGeom>
          <a:ln w="1270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049841" y="2352275"/>
            <a:ext cx="0" cy="98317"/>
          </a:xfrm>
          <a:prstGeom prst="line">
            <a:avLst/>
          </a:prstGeom>
          <a:ln w="1270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105144" y="2352275"/>
            <a:ext cx="0" cy="98317"/>
          </a:xfrm>
          <a:prstGeom prst="line">
            <a:avLst/>
          </a:prstGeom>
          <a:ln w="1270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920801" y="2450592"/>
            <a:ext cx="258080" cy="0"/>
          </a:xfrm>
          <a:prstGeom prst="line">
            <a:avLst/>
          </a:prstGeom>
          <a:ln w="1270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793809" y="2889504"/>
            <a:ext cx="1483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9C6A1C"/>
                </a:solidFill>
                <a:latin typeface="Segoe UI"/>
                <a:cs typeface="Segoe UI"/>
              </a:rPr>
              <a:t>CREATE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93809" y="3163824"/>
            <a:ext cx="148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4283C"/>
                </a:solidFill>
                <a:latin typeface="Segoe UI Semibold"/>
                <a:cs typeface="Segoe UI Semibold"/>
              </a:rPr>
              <a:t>Site creators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793809" y="3657600"/>
            <a:ext cx="146547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793809" y="3858768"/>
            <a:ext cx="1483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Ingest site imagery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Optimise geometry</a:t>
            </a:r>
          </a:p>
          <a:p>
            <a:pPr>
              <a:lnSpc>
                <a:spcPct val="124000"/>
              </a:lnSpc>
              <a:spcAft>
                <a:spcPts val="700"/>
              </a:spcAft>
            </a:pPr>
            <a:r>
              <a:rPr sz="960" b="0">
                <a:solidFill>
                  <a:srgbClr val="AFBCC7"/>
                </a:solidFill>
                <a:latin typeface="Segoe UI"/>
                <a:cs typeface="Segoe UI"/>
              </a:rPr>
              <a:t>— </a:t>
            </a:r>
            <a:r>
              <a:rPr sz="960" b="0">
                <a:solidFill>
                  <a:srgbClr val="4E6274"/>
                </a:solidFill>
                <a:latin typeface="Segoe UI"/>
                <a:cs typeface="Segoe UI"/>
              </a:rPr>
              <a:t>Create bookable capacity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93809" y="4846320"/>
            <a:ext cx="1465472" cy="292608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93809" y="4846320"/>
            <a:ext cx="1465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10">
                <a:solidFill>
                  <a:srgbClr val="647585"/>
                </a:solidFill>
                <a:latin typeface="Segoe UI"/>
                <a:cs typeface="Segoe UI"/>
              </a:rPr>
              <a:t>NETWORK NODE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20">
                <a:solidFill>
                  <a:srgbClr val="FFFFFF"/>
                </a:solidFill>
                <a:latin typeface="Segoe UI"/>
                <a:cs typeface="Segoe UI"/>
              </a:rPr>
              <a:t>Network effect:  more supply  →  better discovery  →  more bookings  →  richer occupancy data  →  better operations.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08</a:t>
            </a:r>
          </a:p>
        </p:txBody>
      </p:sp>
      <p:sp>
        <p:nvSpPr>
          <p:cNvPr id="81" name="Rectangle 80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83" name="Rectangle 82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85" name="Rectangle 84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44197" y="603504"/>
            <a:ext cx="58978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58368" y="6364224"/>
            <a:ext cx="3625077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PRODUCT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One platform, five asset classes, one connected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Different spaces need different levels of access control and intelligence — the software layer stays the same.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901952"/>
            <a:ext cx="10875233" cy="420624"/>
          </a:xfrm>
          <a:prstGeom prst="rect">
            <a:avLst/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FFFFFF"/>
                </a:solidFill>
                <a:latin typeface="Segoe UI"/>
                <a:cs typeface="Segoe UI"/>
              </a:rPr>
              <a:t>ASSET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7" y="1901952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FFFFFF"/>
                </a:solidFill>
                <a:latin typeface="Segoe UI"/>
                <a:cs typeface="Segoe UI"/>
              </a:rPr>
              <a:t>LISTING &amp;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7" y="1901952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FFFFFF"/>
                </a:solidFill>
                <a:latin typeface="Segoe UI"/>
                <a:cs typeface="Segoe UI"/>
              </a:rPr>
              <a:t>PHYSICAL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1901952"/>
            <a:ext cx="241703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FFFFFF"/>
                </a:solidFill>
                <a:latin typeface="Segoe UI"/>
                <a:cs typeface="Segoe UI"/>
              </a:rPr>
              <a:t>INTELLIGENCE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2929737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58368" y="2468880"/>
            <a:ext cx="45720" cy="314553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22576"/>
            <a:ext cx="24231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Household / single bay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2322576"/>
            <a:ext cx="22402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List idle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7" y="2322576"/>
            <a:ext cx="233172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Smart lock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2322576"/>
            <a:ext cx="241703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Booking + owner payout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29737"/>
            <a:ext cx="10875233" cy="607161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368" y="3536899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58368" y="3076041"/>
            <a:ext cx="45720" cy="314553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929737"/>
            <a:ext cx="24231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Private plot / small 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7" y="2929737"/>
            <a:ext cx="22402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List multiple 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7" y="2929737"/>
            <a:ext cx="233172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Barrier + QR / 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929737"/>
            <a:ext cx="241703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Bookings + occupancy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4144060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58368" y="3683203"/>
            <a:ext cx="45720" cy="314553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536899"/>
            <a:ext cx="24231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Mall / office / society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1607" y="3536899"/>
            <a:ext cx="22402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Manage existing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7" y="3536899"/>
            <a:ext cx="233172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Existing barrier + ANPR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5128" y="3536899"/>
            <a:ext cx="241703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CCTV analytics + pricing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44060"/>
            <a:ext cx="10875233" cy="607161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58368" y="4751222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58368" y="4290364"/>
            <a:ext cx="45720" cy="314553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144060"/>
            <a:ext cx="24231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Bus / fleet parking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21607" y="4144060"/>
            <a:ext cx="22402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Reserve large 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7" y="4144060"/>
            <a:ext cx="233172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Controlled entry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4144060"/>
            <a:ext cx="241703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Time-window + vehicle check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5358383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58368" y="4897526"/>
            <a:ext cx="45720" cy="314553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4751222"/>
            <a:ext cx="24231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New parking site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1607" y="4751222"/>
            <a:ext cx="22402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Create capacity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7" y="4751222"/>
            <a:ext cx="233172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Geometry optimiser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25128" y="4751222"/>
            <a:ext cx="241703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Slot layout + circulation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20">
                <a:solidFill>
                  <a:srgbClr val="FFFFFF"/>
                </a:solidFill>
                <a:latin typeface="Segoe UI"/>
                <a:cs typeface="Segoe UI"/>
              </a:rPr>
              <a:t>APP  +  ACCESS  +  AI  +  OPTIMISATION  =  one connected parking operating layer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09</a:t>
            </a:r>
          </a:p>
        </p:txBody>
      </p:sp>
      <p:sp>
        <p:nvSpPr>
          <p:cNvPr id="51" name="Rectangle 50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53" name="Rectangle 52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55" name="Rectangle 54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44197" y="603504"/>
            <a:ext cx="58978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58368" y="6364224"/>
            <a:ext cx="4078212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From search to settlement — with physical access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One booking flow, one access event, one automatic settlement — for both sides of the network.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38528"/>
            <a:ext cx="1481328" cy="1335024"/>
          </a:xfrm>
          <a:prstGeom prst="roundRect">
            <a:avLst>
              <a:gd name="adj" fmla="val 6164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49424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80">
                <a:solidFill>
                  <a:srgbClr val="23788F"/>
                </a:solidFill>
                <a:latin typeface="Segoe UI"/>
                <a:cs typeface="Segoe UI"/>
              </a:rPr>
              <a:t>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42032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40" b="0">
                <a:solidFill>
                  <a:srgbClr val="4E6274"/>
                </a:solidFill>
                <a:latin typeface="Segoe UI"/>
                <a:cs typeface="Segoe UI"/>
              </a:rPr>
              <a:t>Demand 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39" y="1938528"/>
            <a:ext cx="2014720" cy="133502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3" y="2176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20">
                <a:solidFill>
                  <a:srgbClr val="AFBCC7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3" y="2414016"/>
            <a:ext cx="153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4283C"/>
                </a:solidFill>
                <a:latin typeface="Segoe UI Semibold"/>
                <a:cs typeface="Segoe UI Semibold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3" y="2724912"/>
            <a:ext cx="153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>
                <a:solidFill>
                  <a:srgbClr val="4E6274"/>
                </a:solidFill>
                <a:latin typeface="Segoe UI"/>
                <a:cs typeface="Segoe UI"/>
              </a:rPr>
              <a:t>Pick destination and time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2160" y="25054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23788F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7920" y="1938528"/>
            <a:ext cx="2014720" cy="133502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5664" y="2176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20">
                <a:solidFill>
                  <a:srgbClr val="AFBCC7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5664" y="2414016"/>
            <a:ext cx="153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4283C"/>
                </a:solidFill>
                <a:latin typeface="Segoe UI Semibold"/>
                <a:cs typeface="Segoe UI Semibold"/>
              </a:rPr>
              <a:t>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5664" y="2724912"/>
            <a:ext cx="153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>
                <a:solidFill>
                  <a:srgbClr val="4E6274"/>
                </a:solidFill>
                <a:latin typeface="Segoe UI"/>
                <a:cs typeface="Segoe UI"/>
              </a:rPr>
              <a:t>Lock a verified slot in advance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2640" y="25054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23788F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8400" y="1938528"/>
            <a:ext cx="2014720" cy="133502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6144" y="2176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20">
                <a:solidFill>
                  <a:srgbClr val="AFBCC7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144" y="2414016"/>
            <a:ext cx="153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4283C"/>
                </a:solidFill>
                <a:latin typeface="Segoe UI Semibold"/>
                <a:cs typeface="Segoe UI Semibold"/>
              </a:rPr>
              <a:t>Unlock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6144" y="2724912"/>
            <a:ext cx="153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>
                <a:solidFill>
                  <a:srgbClr val="4E6274"/>
                </a:solidFill>
                <a:latin typeface="Segoe UI"/>
                <a:cs typeface="Segoe UI"/>
              </a:rPr>
              <a:t>Navigate, then open barrier or 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21" y="250545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23788F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18881" y="1938528"/>
            <a:ext cx="2014720" cy="133502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25" y="2176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20">
                <a:solidFill>
                  <a:srgbClr val="AFBCC7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25" y="2414016"/>
            <a:ext cx="153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4283C"/>
                </a:solidFill>
                <a:latin typeface="Segoe UI Semibold"/>
                <a:cs typeface="Segoe UI Semibold"/>
              </a:rPr>
              <a:t>Check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25" y="2724912"/>
            <a:ext cx="153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>
                <a:solidFill>
                  <a:srgbClr val="4E6274"/>
                </a:solidFill>
                <a:latin typeface="Segoe UI"/>
                <a:cs typeface="Segoe UI"/>
              </a:rPr>
              <a:t>Auto exit detection and payment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493008"/>
            <a:ext cx="10875233" cy="548640"/>
          </a:xfrm>
          <a:prstGeom prst="roundRect">
            <a:avLst>
              <a:gd name="adj" fmla="val 15000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493008"/>
            <a:ext cx="10875233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000" b="1" spc="100">
                <a:solidFill>
                  <a:srgbClr val="FFFFFF"/>
                </a:solidFill>
                <a:latin typeface="Segoe UI"/>
                <a:cs typeface="Segoe UI"/>
              </a:rPr>
              <a:t>PLATFORM CONTROL PLANE   ·   verified access   ·   live occupancy   ·   automatic settlement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24528"/>
            <a:ext cx="1481328" cy="1335024"/>
          </a:xfrm>
          <a:prstGeom prst="roundRect">
            <a:avLst>
              <a:gd name="adj" fmla="val 6164"/>
            </a:avLst>
          </a:prstGeom>
          <a:solidFill>
            <a:srgbClr val="FAF2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4535424"/>
            <a:ext cx="1133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80">
                <a:solidFill>
                  <a:srgbClr val="D8A24C"/>
                </a:solidFill>
                <a:latin typeface="Segoe UI"/>
                <a:cs typeface="Segoe UI"/>
              </a:rPr>
              <a:t>SPACE OWNER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4828032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40" b="0">
                <a:solidFill>
                  <a:srgbClr val="4E6274"/>
                </a:solidFill>
                <a:latin typeface="Segoe UI"/>
                <a:cs typeface="Segoe UI"/>
              </a:rPr>
              <a:t>Supply side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39" y="4224528"/>
            <a:ext cx="2014720" cy="133502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15183" y="4462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20">
                <a:solidFill>
                  <a:srgbClr val="AFBCC7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5183" y="4700016"/>
            <a:ext cx="153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4283C"/>
                </a:solidFill>
                <a:latin typeface="Segoe UI Semibold"/>
                <a:cs typeface="Segoe UI Semibold"/>
              </a:rPr>
              <a:t>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3" y="5010912"/>
            <a:ext cx="153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>
                <a:solidFill>
                  <a:srgbClr val="4E6274"/>
                </a:solidFill>
                <a:latin typeface="Segoe UI"/>
                <a:cs typeface="Segoe UI"/>
              </a:rPr>
              <a:t>Publish idle hours and bay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92160" y="4791455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D8A24C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7920" y="4224528"/>
            <a:ext cx="2014720" cy="133502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95664" y="4462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20">
                <a:solidFill>
                  <a:srgbClr val="AFBCC7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5664" y="4700016"/>
            <a:ext cx="153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4283C"/>
                </a:solidFill>
                <a:latin typeface="Segoe UI Semibold"/>
                <a:cs typeface="Segoe UI Semibold"/>
              </a:rPr>
              <a:t>Set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5664" y="5010912"/>
            <a:ext cx="153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>
                <a:solidFill>
                  <a:srgbClr val="4E6274"/>
                </a:solidFill>
                <a:latin typeface="Segoe UI"/>
                <a:cs typeface="Segoe UI"/>
              </a:rPr>
              <a:t>Price, vehicle type, access window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72640" y="4791455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D8A24C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8400" y="4224528"/>
            <a:ext cx="2014720" cy="133502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6144" y="4462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20">
                <a:solidFill>
                  <a:srgbClr val="AFBCC7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6144" y="4700016"/>
            <a:ext cx="153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4283C"/>
                </a:solidFill>
                <a:latin typeface="Segoe UI Semibold"/>
                <a:cs typeface="Segoe UI Semibold"/>
              </a:rPr>
              <a:t>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6144" y="5010912"/>
            <a:ext cx="153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>
                <a:solidFill>
                  <a:srgbClr val="4E6274"/>
                </a:solidFill>
                <a:latin typeface="Segoe UI"/>
                <a:cs typeface="Segoe UI"/>
              </a:rPr>
              <a:t>Only verified bookings get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3121" y="4791455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D8A24C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18881" y="4224528"/>
            <a:ext cx="2014720" cy="1335024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56625" y="4462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20">
                <a:solidFill>
                  <a:srgbClr val="AFBCC7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6625" y="4700016"/>
            <a:ext cx="1539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4283C"/>
                </a:solidFill>
                <a:latin typeface="Segoe UI Semibold"/>
                <a:cs typeface="Segoe UI Semibold"/>
              </a:rPr>
              <a:t>Get paid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6625" y="5010912"/>
            <a:ext cx="153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>
                <a:solidFill>
                  <a:srgbClr val="4E6274"/>
                </a:solidFill>
                <a:latin typeface="Segoe UI"/>
                <a:cs typeface="Segoe UI"/>
              </a:rPr>
              <a:t>70% owner payout, settled directly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888736"/>
            <a:ext cx="108752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Revenue share shown is the current pilot assumption and is subject to validation in live deployments.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58" name="Rectangle 57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60" name="Rectangle 59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62" name="Rectangle 61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44197" y="603504"/>
            <a:ext cx="58978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58368" y="6364224"/>
            <a:ext cx="4531347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PRODUCT 01 ·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Space Optimizer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Convert unorganised plots into the maximum feasible, buildable parking capacity.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0100" y="2176272"/>
            <a:ext cx="0" cy="2889504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58368" y="2048256"/>
            <a:ext cx="283464" cy="283464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0116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30">
                <a:solidFill>
                  <a:srgbClr val="23788F"/>
                </a:solidFill>
                <a:latin typeface="Segoe UI"/>
                <a:cs typeface="Segoe U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23113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4283C"/>
                </a:solidFill>
                <a:latin typeface="Segoe UI Semibold"/>
                <a:cs typeface="Segoe UI Semibold"/>
              </a:rPr>
              <a:t>Site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505456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Satellite or aerial imagery, plot boundary and access points.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80944"/>
            <a:ext cx="283464" cy="283464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80944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9443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30">
                <a:solidFill>
                  <a:srgbClr val="23788F"/>
                </a:solidFill>
                <a:latin typeface="Segoe UI"/>
                <a:cs typeface="Segoe UI"/>
              </a:rP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16382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4283C"/>
                </a:solidFill>
                <a:latin typeface="Segoe UI Semibold"/>
                <a:cs typeface="Segoe UI Semibold"/>
              </a:rPr>
              <a:t>Geometry 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438144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Parking angle, bay pitch, aisle width and turning circles.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3913632"/>
            <a:ext cx="283464" cy="283464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913632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87705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30">
                <a:solidFill>
                  <a:srgbClr val="23788F"/>
                </a:solidFill>
                <a:latin typeface="Segoe UI"/>
                <a:cs typeface="Segoe UI"/>
              </a:rPr>
              <a:t>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09651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4283C"/>
                </a:solidFill>
                <a:latin typeface="Segoe UI Semibold"/>
                <a:cs typeface="Segoe UI Semibold"/>
              </a:rPr>
              <a:t>Constraint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370832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Setbacks, ramps, circulation and access-code constraints.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4846320"/>
            <a:ext cx="283464" cy="283464"/>
          </a:xfrm>
          <a:prstGeom prst="ellipse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846320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4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974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30">
                <a:solidFill>
                  <a:srgbClr val="9C6A1C"/>
                </a:solidFill>
                <a:latin typeface="Segoe UI"/>
                <a:cs typeface="Segoe UI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02920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4283C"/>
                </a:solidFill>
                <a:latin typeface="Segoe UI Semibold"/>
                <a:cs typeface="Segoe UI Semibold"/>
              </a:rPr>
              <a:t>Buildable layout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30352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Slot coordinates, aisles and an access plan ready for site.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1883664"/>
            <a:ext cx="487676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30">
                <a:solidFill>
                  <a:srgbClr val="647585"/>
                </a:solidFill>
                <a:latin typeface="Segoe UI"/>
                <a:cs typeface="Segoe UI"/>
              </a:rPr>
              <a:t>SITE INPUT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56832" y="2107692"/>
            <a:ext cx="4876769" cy="1292084"/>
          </a:xfrm>
          <a:prstGeom prst="roundRect">
            <a:avLst>
              <a:gd name="adj" fmla="val 9907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124" y="2157984"/>
            <a:ext cx="4776185" cy="1191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56832" y="3474720"/>
            <a:ext cx="487676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30">
                <a:solidFill>
                  <a:srgbClr val="D8A24C"/>
                </a:solidFill>
                <a:latin typeface="Segoe UI"/>
                <a:cs typeface="Segoe UI"/>
              </a:rPr>
              <a:t>OPTIMISED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6832" y="3694176"/>
            <a:ext cx="4876769" cy="1664208"/>
          </a:xfrm>
          <a:prstGeom prst="roundRect">
            <a:avLst>
              <a:gd name="adj" fmla="val 6043"/>
            </a:avLst>
          </a:prstGeom>
          <a:solidFill>
            <a:srgbClr val="14283C"/>
          </a:solidFill>
          <a:ln>
            <a:noFill/>
          </a:ln>
          <a:effectLst>
            <a:outerShdw blurRad="114300" dist="25400" dir="5400000" rotWithShape="0">
              <a:srgbClr val="14283C">
                <a:alpha val="13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4576" y="3877056"/>
            <a:ext cx="4401281" cy="932688"/>
          </a:xfrm>
          <a:prstGeom prst="roundRect">
            <a:avLst>
              <a:gd name="adj" fmla="val 5882"/>
            </a:avLst>
          </a:prstGeom>
          <a:noFill/>
          <a:ln w="12700">
            <a:solidFill>
              <a:srgbClr val="2C537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1200000">
            <a:off x="709574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1200000">
            <a:off x="727862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1200000">
            <a:off x="746150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1200000">
            <a:off x="7644383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1200000">
            <a:off x="782726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1200000">
            <a:off x="801014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1200000">
            <a:off x="819302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1200000">
            <a:off x="837590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1200000">
            <a:off x="855878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1200000">
            <a:off x="874166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1200000">
            <a:off x="892454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1200000">
            <a:off x="910742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1200000">
            <a:off x="929030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1200000">
            <a:off x="947318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1200000">
            <a:off x="965606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1200000">
            <a:off x="983894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1200000">
            <a:off x="1002182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1200000">
            <a:off x="1020470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1200000">
            <a:off x="1038758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1200000">
            <a:off x="1057046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 rot="1200000">
            <a:off x="10753344" y="3959352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 rot="1200000">
            <a:off x="709574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1200000">
            <a:off x="727862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1200000">
            <a:off x="746150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 rot="1200000">
            <a:off x="7644383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1200000">
            <a:off x="782726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1200000">
            <a:off x="801014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 rot="1200000">
            <a:off x="819302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 rot="1200000">
            <a:off x="837590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 rot="1200000">
            <a:off x="855878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 rot="1200000">
            <a:off x="874166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 rot="1200000">
            <a:off x="892454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 rot="1200000">
            <a:off x="910742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 rot="1200000">
            <a:off x="929030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 rot="1200000">
            <a:off x="947318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 rot="1200000">
            <a:off x="965606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 rot="1200000">
            <a:off x="983894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 rot="1200000">
            <a:off x="1002182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 rot="1200000">
            <a:off x="1020470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 rot="1200000">
            <a:off x="1038758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 rot="1200000">
            <a:off x="1057046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 rot="1200000">
            <a:off x="10753344" y="4425696"/>
            <a:ext cx="77724" cy="256032"/>
          </a:xfrm>
          <a:prstGeom prst="rect">
            <a:avLst/>
          </a:prstGeom>
          <a:solidFill>
            <a:srgbClr val="30597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7040880" y="4343400"/>
            <a:ext cx="4108673" cy="0"/>
          </a:xfrm>
          <a:prstGeom prst="line">
            <a:avLst/>
          </a:prstGeom>
          <a:ln w="9525">
            <a:solidFill>
              <a:srgbClr val="3A6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5400000">
            <a:off x="6830568" y="4270248"/>
            <a:ext cx="118872" cy="146304"/>
          </a:xfrm>
          <a:prstGeom prst="triangle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894576" y="4882896"/>
            <a:ext cx="4401281" cy="0"/>
          </a:xfrm>
          <a:prstGeom prst="line">
            <a:avLst/>
          </a:prstGeom>
          <a:ln w="9525">
            <a:solidFill>
              <a:srgbClr val="1D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894576" y="4992624"/>
            <a:ext cx="440128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118</a:t>
            </a:r>
            <a:r>
              <a:rPr sz="1500" b="1">
                <a:solidFill>
                  <a:srgbClr val="CFDCE7"/>
                </a:solidFill>
                <a:latin typeface="Segoe UI"/>
                <a:cs typeface="Segoe UI"/>
              </a:rPr>
              <a:t>  feasible slots</a:t>
            </a:r>
            <a:r>
              <a:rPr sz="1500" b="0">
                <a:solidFill>
                  <a:srgbClr val="8FA5B7"/>
                </a:solidFill>
                <a:latin typeface="Segoe UI"/>
                <a:cs typeface="Segoe UI"/>
              </a:rPr>
              <a:t>   from a 2,450 m² plot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5870448"/>
            <a:ext cx="108752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Illustrative layout. Final capacity depends on site geometry, access conditions and local engineering constraints.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85" name="Rectangle 84">
            <a:hlinkClick action="ppaction://hlinksldjump" r:id="rId3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87" name="Rectangle 86">
            <a:hlinkClick action="ppaction://hlinksldjump" r:id="rId4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89" name="Rectangle 88">
            <a:hlinkClick action="ppaction://hlinksldjump" r:id="rId5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44197" y="603504"/>
            <a:ext cx="58978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>
            <a:hlinkClick action="ppaction://hlinksldjump" r:id="rId6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8368" y="6364224"/>
            <a:ext cx="4984482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PRODUCT 02 · MANAGE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Intelligent CCTV Vision (Edge 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Turn cameras that are already installed into a live occupancy signal — without a sensor in every bay.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4956048" cy="2492387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cc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952244"/>
            <a:ext cx="4855464" cy="239180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4604651"/>
            <a:ext cx="4956048" cy="1097280"/>
          </a:xfrm>
          <a:prstGeom prst="roundRect">
            <a:avLst>
              <a:gd name="adj" fmla="val 9166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604651"/>
            <a:ext cx="45720" cy="1097280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24107"/>
            <a:ext cx="44439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30">
                <a:solidFill>
                  <a:srgbClr val="23788F"/>
                </a:solidFill>
                <a:latin typeface="Segoe UI"/>
                <a:cs typeface="Segoe UI"/>
              </a:rPr>
              <a:t>COST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98427"/>
            <a:ext cx="444398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Reuses existing CCTV infrastructure — no per-bay sensor retrofit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1956816"/>
            <a:ext cx="402336" cy="402336"/>
          </a:xfrm>
          <a:prstGeom prst="roundRect">
            <a:avLst>
              <a:gd name="adj" fmla="val 20454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95681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60" b="1">
                <a:solidFill>
                  <a:srgbClr val="23788F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1975104"/>
            <a:ext cx="49499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Feed 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231136"/>
            <a:ext cx="49499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Pull existing CCTV streams at the edge, no cloud round-trip.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8464" y="2615184"/>
            <a:ext cx="5535137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98464" y="2779776"/>
            <a:ext cx="402336" cy="402336"/>
          </a:xfrm>
          <a:prstGeom prst="roundRect">
            <a:avLst>
              <a:gd name="adj" fmla="val 20454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277977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60" b="1">
                <a:solidFill>
                  <a:srgbClr val="23788F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798064"/>
            <a:ext cx="49499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Vehicle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054096"/>
            <a:ext cx="49499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Detect and track vehicles across the camera's field of view.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98464" y="3438144"/>
            <a:ext cx="5535137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98464" y="3602736"/>
            <a:ext cx="402336" cy="402336"/>
          </a:xfrm>
          <a:prstGeom prst="roundRect">
            <a:avLst>
              <a:gd name="adj" fmla="val 20454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8464" y="36027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60" b="1">
                <a:solidFill>
                  <a:srgbClr val="23788F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621024"/>
            <a:ext cx="49499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Slot-level occupancy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3877056"/>
            <a:ext cx="49499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Map detections onto the mapped bay grid, bay by bay.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98464" y="4261104"/>
            <a:ext cx="5535137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98464" y="4425696"/>
            <a:ext cx="402336" cy="402336"/>
          </a:xfrm>
          <a:prstGeom prst="roundRect">
            <a:avLst>
              <a:gd name="adj" fmla="val 20454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442569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60" b="1">
                <a:solidFill>
                  <a:srgbClr val="23788F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4443983"/>
            <a:ext cx="49499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ANPR plate 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79" y="4700016"/>
            <a:ext cx="49499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Read the plate and match it to the active reservation.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98464" y="5084064"/>
            <a:ext cx="5535137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98464" y="5248656"/>
            <a:ext cx="402336" cy="402336"/>
          </a:xfrm>
          <a:prstGeom prst="roundRect">
            <a:avLst>
              <a:gd name="adj" fmla="val 20454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8464" y="52486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860" b="1">
                <a:solidFill>
                  <a:srgbClr val="23788F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5266944"/>
            <a:ext cx="49499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Exception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5522976"/>
            <a:ext cx="49499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Flag misaligned parking, overstay and unauthorised entry.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870448"/>
            <a:ext cx="108752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Detection accuracy benchmarks will be published once measured in paid pilot deployments.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42" name="Rectangle 41">
            <a:hlinkClick action="ppaction://hlinksldjump" r:id="rId3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44" name="Rectangle 43">
            <a:hlinkClick action="ppaction://hlinksldjump" r:id="rId4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46" name="Rectangle 45">
            <a:hlinkClick action="ppaction://hlinksldjump" r:id="rId5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44197" y="603504"/>
            <a:ext cx="58978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>
            <a:hlinkClick action="ppaction://hlinksldjump" r:id="rId6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58368" y="6364224"/>
            <a:ext cx="5437616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PRODUCT 03 · PROTECT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Smart barrier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A private listing is only worth something when the owner can control physical access to the bay.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4956048" cy="2166738"/>
          </a:xfrm>
          <a:prstGeom prst="roundRect">
            <a:avLst>
              <a:gd name="adj" fmla="val 5908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952244"/>
            <a:ext cx="4855464" cy="206615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4279002"/>
            <a:ext cx="4956048" cy="1335024"/>
          </a:xfrm>
          <a:prstGeom prst="roundRect">
            <a:avLst>
              <a:gd name="adj" fmla="val 7534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279002"/>
            <a:ext cx="45720" cy="133502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1674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30">
                <a:solidFill>
                  <a:srgbClr val="D8A24C"/>
                </a:solidFill>
                <a:latin typeface="Segoe UI"/>
                <a:cs typeface="Segoe UI"/>
              </a:rPr>
              <a:t>UNIT 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791066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₹6,000–₹8,000</a:t>
            </a:r>
            <a:r>
              <a:rPr sz="1500" b="0">
                <a:solidFill>
                  <a:srgbClr val="CFDCE7"/>
                </a:solidFill>
                <a:latin typeface="Segoe UI"/>
                <a:cs typeface="Segoe UI"/>
              </a:rPr>
              <a:t>  target hardware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193402"/>
            <a:ext cx="4407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>
                <a:solidFill>
                  <a:srgbClr val="8FA5B7"/>
                </a:solidFill>
                <a:latin typeface="Segoe UI"/>
                <a:cs typeface="Segoe UI"/>
              </a:rPr>
              <a:t>Target payback 4–6 months at pilot utilisation assumptions*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8464" y="1901952"/>
            <a:ext cx="2657840" cy="10058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139696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9490" y="2377293"/>
            <a:ext cx="208922" cy="135184"/>
          </a:xfrm>
          <a:prstGeom prst="roundRect">
            <a:avLst>
              <a:gd name="adj" fmla="val 18181"/>
            </a:avLst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57053" y="2421843"/>
            <a:ext cx="33796" cy="33796"/>
          </a:xfrm>
          <a:prstGeom prst="ellipse">
            <a:avLst/>
          </a:prstGeom>
          <a:solidFill>
            <a:srgbClr val="9C6A1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6412504" y="2321990"/>
            <a:ext cx="0" cy="55303"/>
          </a:xfrm>
          <a:prstGeom prst="line">
            <a:avLst/>
          </a:prstGeom>
          <a:ln w="15875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535399" y="2321990"/>
            <a:ext cx="0" cy="55303"/>
          </a:xfrm>
          <a:prstGeom prst="line">
            <a:avLst/>
          </a:prstGeom>
          <a:ln w="15875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12504" y="2321990"/>
            <a:ext cx="122895" cy="0"/>
          </a:xfrm>
          <a:prstGeom prst="line">
            <a:avLst/>
          </a:prstGeom>
          <a:ln w="15875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0" y="2176272"/>
            <a:ext cx="157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BLE unlock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68880"/>
            <a:ext cx="157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>
                <a:solidFill>
                  <a:srgbClr val="4E6274"/>
                </a:solidFill>
                <a:latin typeface="Segoe UI"/>
                <a:cs typeface="Segoe UI"/>
              </a:rPr>
              <a:t>Target &lt; 1.5 sec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5760" y="1901952"/>
            <a:ext cx="2657840" cy="10058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95216" y="2139696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28353" y="2346569"/>
            <a:ext cx="49158" cy="159763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0700000">
            <a:off x="9277511" y="2346569"/>
            <a:ext cx="202777" cy="33796"/>
          </a:xfrm>
          <a:prstGeom prst="rect">
            <a:avLst/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209919" y="2512478"/>
            <a:ext cx="92171" cy="0"/>
          </a:xfrm>
          <a:prstGeom prst="line">
            <a:avLst/>
          </a:prstGeom>
          <a:ln w="15875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735296" y="2176272"/>
            <a:ext cx="157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Low-power actuator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5296" y="2468880"/>
            <a:ext cx="157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>
                <a:solidFill>
                  <a:srgbClr val="4E6274"/>
                </a:solidFill>
                <a:latin typeface="Segoe UI"/>
                <a:cs typeface="Segoe UI"/>
              </a:rPr>
              <a:t>Duty-cycled drive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98464" y="3108960"/>
            <a:ext cx="2657840" cy="10058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334670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44911" y="3473695"/>
            <a:ext cx="258080" cy="258080"/>
          </a:xfrm>
          <a:prstGeom prst="ellipse">
            <a:avLst/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6473952" y="3528998"/>
            <a:ext cx="0" cy="73738"/>
          </a:xfrm>
          <a:prstGeom prst="line">
            <a:avLst/>
          </a:prstGeom>
          <a:ln w="15875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73952" y="3602736"/>
            <a:ext cx="61447" cy="24579"/>
          </a:xfrm>
          <a:prstGeom prst="line">
            <a:avLst/>
          </a:prstGeom>
          <a:ln w="15875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0" y="3383280"/>
            <a:ext cx="157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Solar / long-life battery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675888"/>
            <a:ext cx="157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>
                <a:solidFill>
                  <a:srgbClr val="4E6274"/>
                </a:solidFill>
                <a:latin typeface="Segoe UI"/>
                <a:cs typeface="Segoe UI"/>
              </a:rPr>
              <a:t>No mains wiring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75760" y="3108960"/>
            <a:ext cx="2657840" cy="10058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95216" y="334670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22208" y="3473695"/>
            <a:ext cx="258080" cy="258080"/>
          </a:xfrm>
          <a:prstGeom prst="ellipse">
            <a:avLst/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9277511" y="3528998"/>
            <a:ext cx="147474" cy="147475"/>
          </a:xfrm>
          <a:prstGeom prst="line">
            <a:avLst/>
          </a:prstGeom>
          <a:ln w="2032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735296" y="3383280"/>
            <a:ext cx="157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Weather resistant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5296" y="3675888"/>
            <a:ext cx="157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>
                <a:solidFill>
                  <a:srgbClr val="4E6274"/>
                </a:solidFill>
                <a:latin typeface="Segoe UI"/>
                <a:cs typeface="Segoe UI"/>
              </a:rPr>
              <a:t>Outdoor rated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98464" y="4315968"/>
            <a:ext cx="2657840" cy="10058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17920" y="45537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44911" y="4711427"/>
            <a:ext cx="258080" cy="196632"/>
          </a:xfrm>
          <a:prstGeom prst="roundRect">
            <a:avLst>
              <a:gd name="adj" fmla="val 9375"/>
            </a:avLst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6418649" y="4711427"/>
            <a:ext cx="0" cy="98317"/>
          </a:xfrm>
          <a:prstGeom prst="line">
            <a:avLst/>
          </a:prstGeom>
          <a:ln w="1270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473952" y="4711427"/>
            <a:ext cx="0" cy="98317"/>
          </a:xfrm>
          <a:prstGeom prst="line">
            <a:avLst/>
          </a:prstGeom>
          <a:ln w="1270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529254" y="4711427"/>
            <a:ext cx="0" cy="98317"/>
          </a:xfrm>
          <a:prstGeom prst="line">
            <a:avLst/>
          </a:prstGeom>
          <a:ln w="1270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344911" y="4809744"/>
            <a:ext cx="258081" cy="0"/>
          </a:xfrm>
          <a:prstGeom prst="line">
            <a:avLst/>
          </a:prstGeom>
          <a:ln w="12700" cap="rnd">
            <a:solidFill>
              <a:srgbClr val="9C6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858000" y="4590288"/>
            <a:ext cx="157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Steel protective casing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882896"/>
            <a:ext cx="157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>
                <a:solidFill>
                  <a:srgbClr val="4E6274"/>
                </a:solidFill>
                <a:latin typeface="Segoe UI"/>
                <a:cs typeface="Segoe UI"/>
              </a:rPr>
              <a:t>Anti-tamper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75760" y="4315968"/>
            <a:ext cx="2657840" cy="10058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095216" y="45537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16063" y="4736006"/>
            <a:ext cx="153619" cy="135184"/>
          </a:xfrm>
          <a:prstGeom prst="rect">
            <a:avLst/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369683" y="4779020"/>
            <a:ext cx="110605" cy="92171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9C6A1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248323" y="4866583"/>
            <a:ext cx="46085" cy="46085"/>
          </a:xfrm>
          <a:prstGeom prst="ellipse">
            <a:avLst/>
          </a:prstGeom>
          <a:solidFill>
            <a:srgbClr val="9C6A1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395798" y="4866583"/>
            <a:ext cx="46085" cy="46085"/>
          </a:xfrm>
          <a:prstGeom prst="ellipse">
            <a:avLst/>
          </a:prstGeom>
          <a:solidFill>
            <a:srgbClr val="9C6A1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5296" y="4590288"/>
            <a:ext cx="1578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80" b="0">
                <a:solidFill>
                  <a:srgbClr val="14283C"/>
                </a:solidFill>
                <a:latin typeface="Segoe UI Semibold"/>
                <a:cs typeface="Segoe UI Semibold"/>
              </a:rPr>
              <a:t>Retrofit install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5296" y="4882896"/>
            <a:ext cx="157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>
                <a:solidFill>
                  <a:srgbClr val="4E6274"/>
                </a:solidFill>
                <a:latin typeface="Segoe UI"/>
                <a:cs typeface="Segoe UI"/>
              </a:rPr>
              <a:t>No civil work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870448"/>
            <a:ext cx="108752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*Payback is a model assumption derived from the unit economics in section 03; to be validated in pilot deployments.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13</a:t>
            </a:r>
          </a:p>
        </p:txBody>
      </p:sp>
      <p:sp>
        <p:nvSpPr>
          <p:cNvPr id="65" name="Rectangle 64">
            <a:hlinkClick action="ppaction://hlinksldjump" r:id="rId3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67" name="Rectangle 66">
            <a:hlinkClick action="ppaction://hlinksldjump" r:id="rId4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69" name="Rectangle 68">
            <a:hlinkClick action="ppaction://hlinksldjump" r:id="rId5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44197" y="603504"/>
            <a:ext cx="58978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>
            <a:hlinkClick action="ppaction://hlinksldjump" r:id="rId6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58368" y="6364224"/>
            <a:ext cx="5890751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SPECIALISED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Large-vehicle and fleet parking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Purpose-built capacity for the vehicles that simply cannot use a standard parking bay.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3454389" cy="3456432"/>
          </a:xfrm>
          <a:prstGeom prst="roundRect">
            <a:avLst>
              <a:gd name="adj" fmla="val 2911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01952"/>
            <a:ext cx="3454389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228600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3972" y="2475463"/>
            <a:ext cx="307238" cy="215066"/>
          </a:xfrm>
          <a:prstGeom prst="roundRect">
            <a:avLst>
              <a:gd name="adj" fmla="val 17857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153972" y="2582997"/>
            <a:ext cx="307239" cy="0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07592" y="2475463"/>
            <a:ext cx="0" cy="107534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94297" y="2677088"/>
            <a:ext cx="57607" cy="57607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63278" y="2677088"/>
            <a:ext cx="57607" cy="57607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145536"/>
            <a:ext cx="27960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4283C"/>
                </a:solidFill>
                <a:latin typeface="Segoe UI Semibold"/>
                <a:cs typeface="Segoe UI Semibold"/>
              </a:rPr>
              <a:t>Corporate &amp; school shuttles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602736"/>
            <a:ext cx="279602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E6274"/>
                </a:solidFill>
                <a:latin typeface="Segoe UI"/>
                <a:cs typeface="Segoe UI"/>
              </a:rPr>
              <a:t>Pre-bookable waiting bays near offices, schools and campuses, released on a schedule.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7552" y="4590288"/>
            <a:ext cx="2796021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7552" y="4773168"/>
            <a:ext cx="2796021" cy="329184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773168"/>
            <a:ext cx="27960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10">
                <a:solidFill>
                  <a:srgbClr val="23788F"/>
                </a:solidFill>
                <a:latin typeface="Segoe UI"/>
                <a:cs typeface="Segoe UI"/>
              </a:rPr>
              <a:t>SCHEDULED TIME SLOTS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789" y="1901952"/>
            <a:ext cx="3454389" cy="3456432"/>
          </a:xfrm>
          <a:prstGeom prst="roundRect">
            <a:avLst>
              <a:gd name="adj" fmla="val 2911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8789" y="1901952"/>
            <a:ext cx="3454389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97973" y="228600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864394" y="2460101"/>
            <a:ext cx="307238" cy="99852"/>
          </a:xfrm>
          <a:prstGeom prst="triangl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941204" y="2575316"/>
            <a:ext cx="0" cy="138257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18013" y="2575316"/>
            <a:ext cx="0" cy="138257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94823" y="2575316"/>
            <a:ext cx="0" cy="138257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64394" y="2567635"/>
            <a:ext cx="307239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49032" y="2736616"/>
            <a:ext cx="337962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97973" y="3145536"/>
            <a:ext cx="27960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4283C"/>
                </a:solidFill>
                <a:latin typeface="Segoe UI Semibold"/>
                <a:cs typeface="Segoe UI Semibold"/>
              </a:rPr>
              <a:t>Tourist &amp; pilgrim coaches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7973" y="3602736"/>
            <a:ext cx="279602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E6274"/>
                </a:solidFill>
                <a:latin typeface="Segoe UI"/>
                <a:cs typeface="Segoe UI"/>
              </a:rPr>
              <a:t>Dedicated large bays near shrines, monuments and event venues, sized for peak arrival.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97973" y="4590288"/>
            <a:ext cx="279602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697973" y="4773168"/>
            <a:ext cx="2796021" cy="329184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7973" y="4773168"/>
            <a:ext cx="27960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10">
                <a:solidFill>
                  <a:srgbClr val="23788F"/>
                </a:solidFill>
                <a:latin typeface="Segoe UI"/>
                <a:cs typeface="Segoe UI"/>
              </a:rPr>
              <a:t>DAY + OVERNIGHT BAYS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9211" y="1901952"/>
            <a:ext cx="3454389" cy="3456432"/>
          </a:xfrm>
          <a:prstGeom prst="roundRect">
            <a:avLst>
              <a:gd name="adj" fmla="val 2911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9211" y="1901952"/>
            <a:ext cx="3454389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08395" y="228600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59454" y="2513868"/>
            <a:ext cx="192024" cy="168981"/>
          </a:xfrm>
          <a:prstGeom prst="rect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751478" y="2567635"/>
            <a:ext cx="138257" cy="115214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99779" y="2677088"/>
            <a:ext cx="57607" cy="57607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784122" y="2677088"/>
            <a:ext cx="57607" cy="57607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8395" y="3145536"/>
            <a:ext cx="279602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4283C"/>
                </a:solidFill>
                <a:latin typeface="Segoe UI Semibold"/>
                <a:cs typeface="Segoe UI Semibold"/>
              </a:rPr>
              <a:t>Commercial logistics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8395" y="3602736"/>
            <a:ext cx="279602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E6274"/>
                </a:solidFill>
                <a:latin typeface="Segoe UI"/>
                <a:cs typeface="Segoe UI"/>
              </a:rPr>
              <a:t>Guaranteed staging bays for last-mile delivery vehicles close to the drop radius.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08395" y="4590288"/>
            <a:ext cx="279602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408395" y="4773168"/>
            <a:ext cx="2796021" cy="329184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08395" y="4773168"/>
            <a:ext cx="27960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10">
                <a:solidFill>
                  <a:srgbClr val="23788F"/>
                </a:solidFill>
                <a:latin typeface="Segoe UI"/>
                <a:cs typeface="Segoe UI"/>
              </a:rPr>
              <a:t>ANPR + AUTOMATED ACCESS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20">
                <a:solidFill>
                  <a:srgbClr val="FFFFFF"/>
                </a:solidFill>
                <a:latin typeface="Segoe UI"/>
                <a:cs typeface="Segoe UI"/>
              </a:rPr>
              <a:t>Spatial-engine advantage:  match turning radius, height clearance and access constraints to the right bay.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53" name="Rectangle 52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55" name="Rectangle 54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57" name="Rectangle 56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44197" y="603504"/>
            <a:ext cx="58978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58368" y="6364224"/>
            <a:ext cx="6343886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F31"/>
              </a:gs>
              <a:gs pos="100000">
                <a:srgbClr val="1D3E5E"/>
              </a:gs>
            </a:gsLst>
            <a:lin scaled="0" ang="1980000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320000">
            <a:off x="8138160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8613648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320000">
            <a:off x="9089136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320000">
            <a:off x="9564624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320000">
            <a:off x="10040112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320000">
            <a:off x="10515600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320000">
            <a:off x="10991088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0" b="0" spc="-150">
                <a:solidFill>
                  <a:srgbClr val="274E72"/>
                </a:solidFill>
                <a:latin typeface="Segoe UI Light"/>
                <a:cs typeface="Segoe UI Light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1031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50">
                <a:solidFill>
                  <a:srgbClr val="D8A24C"/>
                </a:solidFill>
                <a:latin typeface="Segoe UI"/>
                <a:cs typeface="Segoe UI"/>
              </a:rPr>
              <a:t>SECTION THREE OF FOUR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395728"/>
            <a:ext cx="45720" cy="153619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2432304"/>
            <a:ext cx="6400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400" b="1" spc="-40">
                <a:solidFill>
                  <a:srgbClr val="FFFFFF"/>
                </a:solidFill>
                <a:latin typeface="Segoe UI"/>
                <a:cs typeface="Segoe UI"/>
              </a:rPr>
              <a:t>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3035808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FDCE7"/>
                </a:solidFill>
                <a:latin typeface="Segoe UI"/>
                <a:cs typeface="Segoe UI"/>
              </a:rPr>
              <a:t>How idle hours turn into recurring revenue, and why the position gets harder to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3749039"/>
            <a:ext cx="1163116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3749039"/>
            <a:ext cx="116311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UNIT ECONOMICS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97756" y="3749039"/>
            <a:ext cx="1100937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7756" y="3749039"/>
            <a:ext cx="110093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REVENUE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26710" y="3749039"/>
            <a:ext cx="914400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6710" y="3749039"/>
            <a:ext cx="9144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MARKET 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9126" y="3749039"/>
            <a:ext cx="1100937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126" y="3749039"/>
            <a:ext cx="1100937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DEFENSIBILITY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8FA5B7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8" y="6364224"/>
            <a:ext cx="6797020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Monetise idle hours — not just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Illustrative pilot assumptions: a 70% owner / 30% Parkfnb split on gross booking value.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4846320" cy="3712463"/>
          </a:xfrm>
          <a:prstGeom prst="roundRect">
            <a:avLst>
              <a:gd name="adj" fmla="val 2709"/>
            </a:avLst>
          </a:prstGeom>
          <a:solidFill>
            <a:srgbClr val="14283C"/>
          </a:solidFill>
          <a:ln>
            <a:noFill/>
          </a:ln>
          <a:effectLst>
            <a:outerShdw blurRad="114300" dist="25400" dir="5400000" rotWithShape="0">
              <a:srgbClr val="14283C">
                <a:alpha val="13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3113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40">
                <a:solidFill>
                  <a:srgbClr val="D8A24C"/>
                </a:solidFill>
                <a:latin typeface="Segoe UI"/>
                <a:cs typeface="Segoe UI"/>
              </a:rPr>
              <a:t>PER-BAY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41513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CFDCE7"/>
                </a:solidFill>
                <a:latin typeface="Segoe UI"/>
                <a:cs typeface="Segoe UI"/>
              </a:rPr>
              <a:t>₹40 / hr  ×  4 hrs / day  ×  30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89504"/>
            <a:ext cx="41513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800" b="0" spc="-80">
                <a:solidFill>
                  <a:srgbClr val="FFFFFF"/>
                </a:solidFill>
                <a:latin typeface="Segoe UI Light"/>
                <a:cs typeface="Segoe UI Light"/>
              </a:rPr>
              <a:t>₹4,800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47872"/>
            <a:ext cx="4151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20">
                <a:solidFill>
                  <a:srgbClr val="8FA5B7"/>
                </a:solidFill>
                <a:latin typeface="Segoe UI"/>
                <a:cs typeface="Segoe UI"/>
              </a:rPr>
              <a:t>GROSS BOOKING VALUE PER MONTH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877056"/>
            <a:ext cx="4151376" cy="0"/>
          </a:xfrm>
          <a:prstGeom prst="line">
            <a:avLst/>
          </a:prstGeom>
          <a:ln w="9525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411480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FFFFFF"/>
                </a:solidFill>
                <a:latin typeface="Segoe UI"/>
                <a:cs typeface="Segoe UI"/>
              </a:rPr>
              <a:t>Owner payout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41513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1">
                <a:solidFill>
                  <a:srgbClr val="D8A24C"/>
                </a:solidFill>
                <a:latin typeface="Segoe UI"/>
                <a:cs typeface="Segoe UI"/>
              </a:rPr>
              <a:t>70%   ₹3,360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425696"/>
            <a:ext cx="4151376" cy="118872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425696"/>
            <a:ext cx="2905963" cy="11887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2803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FFFFFF"/>
                </a:solidFill>
                <a:latin typeface="Segoe UI"/>
                <a:cs typeface="Segoe UI"/>
              </a:rPr>
              <a:t>Parkfnb take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28032"/>
            <a:ext cx="41513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050" b="1">
                <a:solidFill>
                  <a:srgbClr val="23788F"/>
                </a:solidFill>
                <a:latin typeface="Segoe UI"/>
                <a:cs typeface="Segoe UI"/>
              </a:rPr>
              <a:t>30%   ₹1,440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138928"/>
            <a:ext cx="4151376" cy="118872"/>
          </a:xfrm>
          <a:prstGeom prst="rect">
            <a:avLst/>
          </a:prstGeom>
          <a:solidFill>
            <a:srgbClr val="24405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5138928"/>
            <a:ext cx="1245412" cy="11887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9" y="1956816"/>
            <a:ext cx="56814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40">
                <a:solidFill>
                  <a:srgbClr val="23788F"/>
                </a:solidFill>
                <a:latin typeface="Segoe UI"/>
                <a:cs typeface="Segoe UI"/>
              </a:rPr>
              <a:t>NETWORK SCALE  ·  SAME ASSUMPTIONS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234086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20">
                <a:solidFill>
                  <a:srgbClr val="647585"/>
                </a:solidFill>
                <a:latin typeface="Segoe UI"/>
                <a:cs typeface="Segoe UI"/>
              </a:rPr>
              <a:t>BAYS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34086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20">
                <a:solidFill>
                  <a:srgbClr val="647585"/>
                </a:solidFill>
                <a:latin typeface="Segoe UI"/>
                <a:cs typeface="Segoe UI"/>
              </a:rPr>
              <a:t>MONTHLY GMV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40864"/>
            <a:ext cx="20238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80" b="1" spc="120">
                <a:solidFill>
                  <a:srgbClr val="647585"/>
                </a:solidFill>
                <a:latin typeface="Segoe UI"/>
                <a:cs typeface="Segoe UI"/>
              </a:rPr>
              <a:t>PARKFNB TAKE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52159" y="2596896"/>
            <a:ext cx="5681442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52159" y="274320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4283C"/>
                </a:solidFill>
                <a:latin typeface="Segoe UI"/>
                <a:cs typeface="Segoe UI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309067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>
                <a:solidFill>
                  <a:srgbClr val="647585"/>
                </a:solidFill>
                <a:latin typeface="Segoe UI"/>
                <a:cs typeface="Segoe UI"/>
              </a:rPr>
              <a:t>bays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798064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4E6274"/>
                </a:solidFill>
                <a:latin typeface="Segoe UI"/>
                <a:cs typeface="Segoe UI"/>
              </a:rPr>
              <a:t>₹4.8 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59" y="2798064"/>
            <a:ext cx="202384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600" b="1">
                <a:solidFill>
                  <a:srgbClr val="23788F"/>
                </a:solidFill>
                <a:latin typeface="Segoe UI"/>
                <a:cs typeface="Segoe UI"/>
              </a:rPr>
              <a:t>₹1.44 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52159" y="3511296"/>
            <a:ext cx="5681442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59" y="369417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4283C"/>
                </a:solidFill>
                <a:latin typeface="Segoe UI"/>
                <a:cs typeface="Segoe UI"/>
              </a:rPr>
              <a:t>1,000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404164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>
                <a:solidFill>
                  <a:srgbClr val="647585"/>
                </a:solidFill>
                <a:latin typeface="Segoe UI"/>
                <a:cs typeface="Segoe UI"/>
              </a:rPr>
              <a:t>bays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749039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4E6274"/>
                </a:solidFill>
                <a:latin typeface="Segoe UI"/>
                <a:cs typeface="Segoe UI"/>
              </a:rPr>
              <a:t>₹48 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59" y="3749039"/>
            <a:ext cx="202384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600" b="1">
                <a:solidFill>
                  <a:srgbClr val="23788F"/>
                </a:solidFill>
                <a:latin typeface="Segoe UI"/>
                <a:cs typeface="Segoe UI"/>
              </a:rPr>
              <a:t>₹14.4 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2159" y="4462272"/>
            <a:ext cx="5681442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687568" y="4553712"/>
            <a:ext cx="6010625" cy="822960"/>
          </a:xfrm>
          <a:prstGeom prst="roundRect">
            <a:avLst>
              <a:gd name="adj" fmla="val 8888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59" y="464515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>
                <a:solidFill>
                  <a:srgbClr val="14283C"/>
                </a:solidFill>
                <a:latin typeface="Segoe UI"/>
                <a:cs typeface="Segoe UI"/>
              </a:rPr>
              <a:t>1,500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59" y="499262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0">
                <a:solidFill>
                  <a:srgbClr val="647585"/>
                </a:solidFill>
                <a:latin typeface="Segoe UI"/>
                <a:cs typeface="Segoe UI"/>
              </a:rPr>
              <a:t>bays live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700016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>
                <a:solidFill>
                  <a:srgbClr val="4E6274"/>
                </a:solidFill>
                <a:latin typeface="Segoe UI"/>
                <a:cs typeface="Segoe UI"/>
              </a:rPr>
              <a:t>₹72 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59" y="4700016"/>
            <a:ext cx="202384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600" b="1">
                <a:solidFill>
                  <a:srgbClr val="23788F"/>
                </a:solidFill>
                <a:latin typeface="Segoe UI"/>
                <a:cs typeface="Segoe UI"/>
              </a:rPr>
              <a:t>₹21.6 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888736"/>
            <a:ext cx="108752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All figures are scenario math, not realised revenue. Utilisation, pricing and churn must be validated in pilots.  ·  Hardware ₹6,000–₹8,000 per unit, 4–6 month target payback.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46" name="Rectangle 45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35153" y="603504"/>
            <a:ext cx="65836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53" name="Rectangle 52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58368" y="6364224"/>
            <a:ext cx="7250155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Multi-layer monetisation across the same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Marketplace fees build liquidity; SaaS and hardware build recurring revenue around managed supply.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901952"/>
            <a:ext cx="10875233" cy="420624"/>
          </a:xfrm>
          <a:prstGeom prst="rect">
            <a:avLst/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1097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FFFFFF"/>
                </a:solidFill>
                <a:latin typeface="Segoe UI"/>
                <a:cs typeface="Segoe U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901952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FFFFFF"/>
                </a:solidFill>
                <a:latin typeface="Segoe UI"/>
                <a:cs typeface="Segoe UI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901952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FFFFF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901952"/>
            <a:ext cx="34228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40" b="1" spc="130">
                <a:solidFill>
                  <a:srgbClr val="FFFFFF"/>
                </a:solidFill>
                <a:latin typeface="Segoe UI"/>
                <a:cs typeface="Segoe UI"/>
              </a:rPr>
              <a:t>PRICING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2929737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" y="2479852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479852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B2C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322576"/>
            <a:ext cx="19659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322576"/>
            <a:ext cx="29260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Booking convenience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2322576"/>
            <a:ext cx="342287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₹10–₹25 per booking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29737"/>
            <a:ext cx="10875233" cy="607161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368" y="3536899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" y="3087014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087014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B2B2C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2929737"/>
            <a:ext cx="19659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Space owners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2929737"/>
            <a:ext cx="29260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Marketplace commission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2929737"/>
            <a:ext cx="342287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70% owner / 30% Parkfnb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4144060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2688" y="3694176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694176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B2B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3536899"/>
            <a:ext cx="19659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Commercial lots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3536899"/>
            <a:ext cx="29260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CCTV edge AI + barriers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3536899"/>
            <a:ext cx="342287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Setup fee + monthly SaaS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44060"/>
            <a:ext cx="10875233" cy="607161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58368" y="4751222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32688" y="4301337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301337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23788F"/>
                </a:solidFill>
                <a:latin typeface="Segoe UI"/>
                <a:cs typeface="Segoe UI"/>
              </a:rPr>
              <a:t>B2B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4144060"/>
            <a:ext cx="19659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Developers / plots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4144060"/>
            <a:ext cx="29260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Space Optimizer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4144060"/>
            <a:ext cx="342287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Design fee + setup commission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5358383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32688" y="4908499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AF2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4908499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00">
                <a:solidFill>
                  <a:srgbClr val="D8A24C"/>
                </a:solidFill>
                <a:latin typeface="Segoe UI"/>
                <a:cs typeface="Segoe UI"/>
              </a:rPr>
              <a:t>B2G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751222"/>
            <a:ext cx="196596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4283C"/>
                </a:solidFill>
                <a:latin typeface="Segoe UI"/>
                <a:cs typeface="Segoe UI"/>
              </a:rPr>
              <a:t>Municipalities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7448" y="4751222"/>
            <a:ext cx="2926080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Digital parking networks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4751222"/>
            <a:ext cx="3422873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Long-term infrastructure contracts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20">
                <a:solidFill>
                  <a:srgbClr val="FFFFFF"/>
                </a:solidFill>
                <a:latin typeface="Segoe UI"/>
                <a:cs typeface="Segoe UI"/>
              </a:rPr>
              <a:t>Long-term shape: high-margin software and marketplace take, layered on installed physical infrastructure.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17</a:t>
            </a:r>
          </a:p>
        </p:txBody>
      </p:sp>
      <p:sp>
        <p:nvSpPr>
          <p:cNvPr id="51" name="Rectangle 50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53" name="Rectangle 52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35153" y="603504"/>
            <a:ext cx="65836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58" name="Rectangle 57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58368" y="6364224"/>
            <a:ext cx="7703290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MARKET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Four layers exist today — nobody connects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Parking already has marketplaces, access hardware and vision software, but each solves a different layer.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2540500" cy="2304288"/>
          </a:xfrm>
          <a:prstGeom prst="roundRect">
            <a:avLst>
              <a:gd name="adj" fmla="val 4365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2176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9781" y="2307799"/>
            <a:ext cx="152741" cy="267297"/>
          </a:xfrm>
          <a:prstGeom prst="roundRect">
            <a:avLst>
              <a:gd name="adj" fmla="val 18749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190695" y="2345984"/>
            <a:ext cx="50913" cy="0"/>
          </a:xfrm>
          <a:prstGeom prst="line">
            <a:avLst/>
          </a:prstGeom>
          <a:ln w="1143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01832" y="2519409"/>
            <a:ext cx="28639" cy="28639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9060" y="21762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400" b="0">
                <a:solidFill>
                  <a:srgbClr val="AFBCC7"/>
                </a:solidFill>
                <a:latin typeface="Segoe UI Light"/>
                <a:cs typeface="Segoe UI Ligh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871216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spc="90">
                <a:solidFill>
                  <a:srgbClr val="14283C"/>
                </a:solidFill>
                <a:latin typeface="Segoe UI"/>
                <a:cs typeface="Segoe UI"/>
              </a:rPr>
              <a:t>DISCOVERY / BOOKING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163824"/>
            <a:ext cx="19552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Find · reserve · pay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6" y="3566160"/>
            <a:ext cx="195528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0976" y="3730752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20">
                <a:solidFill>
                  <a:srgbClr val="23788F"/>
                </a:solidFill>
                <a:latin typeface="Segoe UI"/>
                <a:cs typeface="Segoe UI"/>
              </a:rPr>
              <a:t>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8868" y="295351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AFBCC7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6612" y="1901952"/>
            <a:ext cx="2540500" cy="2304288"/>
          </a:xfrm>
          <a:prstGeom prst="roundRect">
            <a:avLst>
              <a:gd name="adj" fmla="val 4365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29220" y="2176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67111" y="2390534"/>
            <a:ext cx="50913" cy="165469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700000">
            <a:off x="3918025" y="2390534"/>
            <a:ext cx="210019" cy="35003"/>
          </a:xfrm>
          <a:prstGeom prst="rect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848019" y="2562368"/>
            <a:ext cx="95463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27304" y="21762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400" b="0">
                <a:solidFill>
                  <a:srgbClr val="AFBCC7"/>
                </a:solidFill>
                <a:latin typeface="Segoe UI Light"/>
                <a:cs typeface="Segoe UI Ligh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29220" y="2871216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spc="90">
                <a:solidFill>
                  <a:srgbClr val="14283C"/>
                </a:solidFill>
                <a:latin typeface="Segoe UI"/>
                <a:cs typeface="Segoe UI"/>
              </a:rPr>
              <a:t>ACCESS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9220" y="3163824"/>
            <a:ext cx="19552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Barrier · lock · gate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29220" y="3566160"/>
            <a:ext cx="195528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29220" y="3730752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20">
                <a:solidFill>
                  <a:srgbClr val="23788F"/>
                </a:solidFill>
                <a:latin typeface="Segoe UI"/>
                <a:cs typeface="Segoe UI"/>
              </a:rPr>
              <a:t>HARDWARE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7112" y="295351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AFBCC7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4856" y="1901952"/>
            <a:ext cx="2540500" cy="2304288"/>
          </a:xfrm>
          <a:prstGeom prst="roundRect">
            <a:avLst>
              <a:gd name="adj" fmla="val 4365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07464" y="2176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 rot="20400000">
            <a:off x="6651720" y="2358713"/>
            <a:ext cx="197290" cy="95463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10826" y="2345984"/>
            <a:ext cx="63642" cy="63642"/>
          </a:xfrm>
          <a:prstGeom prst="ellips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721726" y="2435083"/>
            <a:ext cx="0" cy="120921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670813" y="2556004"/>
            <a:ext cx="101827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05549" y="21762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400" b="0">
                <a:solidFill>
                  <a:srgbClr val="AFBCC7"/>
                </a:solidFill>
                <a:latin typeface="Segoe UI Light"/>
                <a:cs typeface="Segoe UI Ligh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7464" y="2871216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spc="90">
                <a:solidFill>
                  <a:srgbClr val="14283C"/>
                </a:solidFill>
                <a:latin typeface="Segoe UI"/>
                <a:cs typeface="Segoe UI"/>
              </a:rPr>
              <a:t>PARKING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7464" y="3163824"/>
            <a:ext cx="19552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CCTV · ANPR · occupancy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07464" y="3566160"/>
            <a:ext cx="1955285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07464" y="3730752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20">
                <a:solidFill>
                  <a:srgbClr val="23788F"/>
                </a:solidFill>
                <a:latin typeface="Segoe UI"/>
                <a:cs typeface="Segoe UI"/>
              </a:rPr>
              <a:t>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5357" y="295351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AFBCC7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3101" y="1901952"/>
            <a:ext cx="2540500" cy="2304288"/>
          </a:xfrm>
          <a:prstGeom prst="roundRect">
            <a:avLst>
              <a:gd name="adj" fmla="val 4365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85709" y="21762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17236" y="2339620"/>
            <a:ext cx="267297" cy="203655"/>
          </a:xfrm>
          <a:prstGeom prst="roundRect">
            <a:avLst>
              <a:gd name="adj" fmla="val 9375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493607" y="2339620"/>
            <a:ext cx="0" cy="101828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50885" y="2339620"/>
            <a:ext cx="0" cy="101828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08163" y="2339620"/>
            <a:ext cx="0" cy="101828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417236" y="2441448"/>
            <a:ext cx="267297" cy="0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783793" y="21762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400" b="0">
                <a:solidFill>
                  <a:srgbClr val="AFBCC7"/>
                </a:solidFill>
                <a:latin typeface="Segoe UI Light"/>
                <a:cs typeface="Segoe UI Ligh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5709" y="2871216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spc="90">
                <a:solidFill>
                  <a:srgbClr val="14283C"/>
                </a:solidFill>
                <a:latin typeface="Segoe UI"/>
                <a:cs typeface="Segoe UI"/>
              </a:rPr>
              <a:t>SPACE CREATION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5709" y="3163824"/>
            <a:ext cx="19552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Plot → optimal layout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85709" y="3566160"/>
            <a:ext cx="195528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285709" y="3730752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80" b="1" spc="120">
                <a:solidFill>
                  <a:srgbClr val="23788F"/>
                </a:solidFill>
                <a:latin typeface="Segoe UI"/>
                <a:cs typeface="Segoe UI"/>
              </a:rPr>
              <a:t>OPTIMISATION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4572000"/>
            <a:ext cx="10875233" cy="1225296"/>
          </a:xfrm>
          <a:prstGeom prst="roundRect">
            <a:avLst>
              <a:gd name="adj" fmla="val 8208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" y="4572000"/>
            <a:ext cx="50292" cy="122529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2415" y="4773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spc="40">
                <a:solidFill>
                  <a:srgbClr val="FFFFFF"/>
                </a:solidFill>
                <a:latin typeface="Segoe UI"/>
                <a:cs typeface="Segoe UI"/>
              </a:rPr>
              <a:t>PARKFNB  =  the connected operating layer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5" y="5175504"/>
            <a:ext cx="101071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D8A24C"/>
                </a:solidFill>
                <a:latin typeface="Segoe UI"/>
                <a:cs typeface="Segoe UI"/>
              </a:rPr>
              <a:t>Demand  →  verified inventory  →  reservation  →  physical access  →  live occupancy  →  payout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961888"/>
            <a:ext cx="108752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647585"/>
                </a:solidFill>
                <a:latin typeface="Segoe UI"/>
                <a:cs typeface="Segoe UI"/>
              </a:rPr>
              <a:t>Competitive framing based on publicly available product descriptions; to be re-validated before external circulation.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62" name="Rectangle 61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64" name="Rectangle 63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35153" y="603504"/>
            <a:ext cx="65836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69" name="Rectangle 68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58368" y="6364224"/>
            <a:ext cx="8156425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The system gets stronger as it scales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The moat is not a single feature — it is the compounding loop between supply, access, vision and spatial data.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1955590" cy="2157984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01952"/>
            <a:ext cx="1955590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176272"/>
            <a:ext cx="475488" cy="475488"/>
          </a:xfrm>
          <a:prstGeom prst="roundRect">
            <a:avLst>
              <a:gd name="adj" fmla="val 17307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3432" y="2396898"/>
            <a:ext cx="193999" cy="125528"/>
          </a:xfrm>
          <a:prstGeom prst="roundRect">
            <a:avLst>
              <a:gd name="adj" fmla="val 18181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4740" y="2438265"/>
            <a:ext cx="31382" cy="31382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113373" y="2345545"/>
            <a:ext cx="0" cy="51353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27490" y="2345545"/>
            <a:ext cx="0" cy="51353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13373" y="2345545"/>
            <a:ext cx="114117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2834640"/>
            <a:ext cx="140695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70">
                <a:solidFill>
                  <a:srgbClr val="14283C"/>
                </a:solidFill>
                <a:latin typeface="Segoe UI"/>
                <a:cs typeface="Segoe UI"/>
              </a:rPr>
              <a:t>PRIVATE SUPPLY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56432"/>
            <a:ext cx="14069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More bookable bays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3958" y="28803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23788F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8278" y="1901952"/>
            <a:ext cx="1955590" cy="2157984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8278" y="1901952"/>
            <a:ext cx="1955590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62598" y="2176272"/>
            <a:ext cx="475488" cy="475488"/>
          </a:xfrm>
          <a:prstGeom prst="roundRect">
            <a:avLst>
              <a:gd name="adj" fmla="val 17307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86225" y="2368369"/>
            <a:ext cx="45646" cy="148352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0700000">
            <a:off x="3331872" y="2368369"/>
            <a:ext cx="188293" cy="31382"/>
          </a:xfrm>
          <a:prstGeom prst="rect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269108" y="2522427"/>
            <a:ext cx="85587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62598" y="2834640"/>
            <a:ext cx="140695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70">
                <a:solidFill>
                  <a:srgbClr val="14283C"/>
                </a:solidFill>
                <a:latin typeface="Segoe UI"/>
                <a:cs typeface="Segoe UI"/>
              </a:rPr>
              <a:t>PHYSICAL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2598" y="3456432"/>
            <a:ext cx="14069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Locks and barriers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3869" y="28803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23788F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8189" y="1901952"/>
            <a:ext cx="1955590" cy="2157984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18189" y="1901952"/>
            <a:ext cx="1955590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92509" y="2176272"/>
            <a:ext cx="475488" cy="475488"/>
          </a:xfrm>
          <a:prstGeom prst="roundRect">
            <a:avLst>
              <a:gd name="adj" fmla="val 17307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 rot="20400000">
            <a:off x="5521842" y="2339839"/>
            <a:ext cx="176881" cy="85587"/>
          </a:xfrm>
          <a:prstGeom prst="roundRect">
            <a:avLst>
              <a:gd name="adj" fmla="val 23333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64488" y="2328428"/>
            <a:ext cx="57058" cy="57058"/>
          </a:xfrm>
          <a:prstGeom prst="ellipse">
            <a:avLst/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584606" y="2408310"/>
            <a:ext cx="0" cy="108411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38959" y="2516721"/>
            <a:ext cx="91294" cy="0"/>
          </a:xfrm>
          <a:prstGeom prst="line">
            <a:avLst/>
          </a:prstGeom>
          <a:ln w="15875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92509" y="2834640"/>
            <a:ext cx="140695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70">
                <a:solidFill>
                  <a:srgbClr val="14283C"/>
                </a:solidFill>
                <a:latin typeface="Segoe UI"/>
                <a:cs typeface="Segoe UI"/>
              </a:rPr>
              <a:t>LIVE 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2509" y="3456432"/>
            <a:ext cx="14069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Occupancy and ANPR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3780" y="28803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23788F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48100" y="1901952"/>
            <a:ext cx="1955590" cy="2157984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48100" y="1901952"/>
            <a:ext cx="1955590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22420" y="2176272"/>
            <a:ext cx="475488" cy="475488"/>
          </a:xfrm>
          <a:prstGeom prst="roundRect">
            <a:avLst>
              <a:gd name="adj" fmla="val 17307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40341" y="2322722"/>
            <a:ext cx="239645" cy="182587"/>
          </a:xfrm>
          <a:prstGeom prst="roundRect">
            <a:avLst>
              <a:gd name="adj" fmla="val 9375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808811" y="2322722"/>
            <a:ext cx="0" cy="91294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860164" y="2322722"/>
            <a:ext cx="0" cy="91294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11516" y="2322722"/>
            <a:ext cx="0" cy="91294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740341" y="2414016"/>
            <a:ext cx="239646" cy="0"/>
          </a:xfrm>
          <a:prstGeom prst="line">
            <a:avLst/>
          </a:prstGeom>
          <a:ln w="1270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22420" y="2834640"/>
            <a:ext cx="140695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70">
                <a:solidFill>
                  <a:srgbClr val="14283C"/>
                </a:solidFill>
                <a:latin typeface="Segoe UI"/>
                <a:cs typeface="Segoe UI"/>
              </a:rPr>
              <a:t>SPATIAL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2420" y="3456432"/>
            <a:ext cx="14069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Layout and constraints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3690" y="28803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500" b="1">
                <a:solidFill>
                  <a:srgbClr val="23788F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78010" y="1901952"/>
            <a:ext cx="1955590" cy="2157984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78010" y="1901952"/>
            <a:ext cx="1955590" cy="50292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52330" y="2176272"/>
            <a:ext cx="475488" cy="475488"/>
          </a:xfrm>
          <a:prstGeom prst="roundRect">
            <a:avLst>
              <a:gd name="adj" fmla="val 17307"/>
            </a:avLst>
          </a:prstGeom>
          <a:solidFill>
            <a:srgbClr val="E3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021604" y="2294193"/>
            <a:ext cx="136940" cy="239645"/>
          </a:xfrm>
          <a:prstGeom prst="roundRect">
            <a:avLst>
              <a:gd name="adj" fmla="val 18749"/>
            </a:avLst>
          </a:prstGeom>
          <a:noFill/>
          <a:ln w="15875">
            <a:solidFill>
              <a:srgbClr val="23788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0067251" y="2328428"/>
            <a:ext cx="45647" cy="0"/>
          </a:xfrm>
          <a:prstGeom prst="line">
            <a:avLst/>
          </a:prstGeom>
          <a:ln w="11430" cap="rnd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077236" y="2483912"/>
            <a:ext cx="25676" cy="25676"/>
          </a:xfrm>
          <a:prstGeom prst="ellips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52330" y="2834640"/>
            <a:ext cx="140695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spc="70">
                <a:solidFill>
                  <a:srgbClr val="14283C"/>
                </a:solidFill>
                <a:latin typeface="Segoe UI"/>
                <a:cs typeface="Segoe UI"/>
              </a:rPr>
              <a:t>NETWORK 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52330" y="3456432"/>
            <a:ext cx="14069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Demand and utilisation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555806" y="4059935"/>
            <a:ext cx="0" cy="292609"/>
          </a:xfrm>
          <a:prstGeom prst="line">
            <a:avLst/>
          </a:prstGeom>
          <a:ln w="9525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36163" y="4059935"/>
            <a:ext cx="0" cy="292609"/>
          </a:xfrm>
          <a:prstGeom prst="line">
            <a:avLst/>
          </a:prstGeom>
          <a:ln w="9525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636163" y="4352544"/>
            <a:ext cx="8919643" cy="0"/>
          </a:xfrm>
          <a:prstGeom prst="line">
            <a:avLst/>
          </a:prstGeom>
          <a:ln w="9525">
            <a:solidFill>
              <a:srgbClr val="237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>
            <a:off x="1553867" y="4059935"/>
            <a:ext cx="164592" cy="146304"/>
          </a:xfrm>
          <a:prstGeom prst="triangle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27304" y="4242816"/>
            <a:ext cx="1737360" cy="21945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27304" y="424281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80" b="1" spc="130">
                <a:solidFill>
                  <a:srgbClr val="23788F"/>
                </a:solidFill>
                <a:latin typeface="Segoe UI"/>
                <a:cs typeface="Segoe UI"/>
              </a:rPr>
              <a:t>COMPOUNDING LOOP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" y="4718304"/>
            <a:ext cx="10875233" cy="1097280"/>
          </a:xfrm>
          <a:prstGeom prst="roundRect">
            <a:avLst>
              <a:gd name="adj" fmla="val 9166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" y="4718304"/>
            <a:ext cx="50292" cy="1097280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5" y="488289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1">
                <a:solidFill>
                  <a:srgbClr val="14283C"/>
                </a:solidFill>
                <a:latin typeface="Segoe UI"/>
                <a:cs typeface="Segoe UI"/>
              </a:rPr>
              <a:t>Moat thesis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2415" y="5175504"/>
            <a:ext cx="1010713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50" b="0">
                <a:solidFill>
                  <a:srgbClr val="4E6274"/>
                </a:solidFill>
                <a:latin typeface="Segoe UI"/>
                <a:cs typeface="Segoe UI"/>
              </a:rPr>
              <a:t>Unifying private supply creation, physical access control, live occupancy vision and spatial intelligence on one network — each new site makes every other layer more accurate and more valuable.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70" name="Rectangle 69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72" name="Rectangle 71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35153" y="603504"/>
            <a:ext cx="65836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77" name="Rectangle 76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58368" y="6364224"/>
            <a:ext cx="8609559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F31"/>
              </a:gs>
              <a:gs pos="100000">
                <a:srgbClr val="1D3E5E"/>
              </a:gs>
            </a:gsLst>
            <a:lin scaled="0" ang="1980000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320000">
            <a:off x="8138160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8613648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320000">
            <a:off x="9089136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320000">
            <a:off x="9564624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320000">
            <a:off x="10040112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320000">
            <a:off x="10515600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320000">
            <a:off x="10991088" y="1005840"/>
            <a:ext cx="77724" cy="137160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0" b="0" spc="-150">
                <a:solidFill>
                  <a:srgbClr val="274E72"/>
                </a:solidFill>
                <a:latin typeface="Segoe UI Light"/>
                <a:cs typeface="Segoe UI Light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1031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50">
                <a:solidFill>
                  <a:srgbClr val="D8A24C"/>
                </a:solidFill>
                <a:latin typeface="Segoe UI"/>
                <a:cs typeface="Segoe UI"/>
              </a:rPr>
              <a:t>SECTION FOUR OF FOUR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395728"/>
            <a:ext cx="45720" cy="153619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2432304"/>
            <a:ext cx="6400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400" b="1" spc="-40">
                <a:solidFill>
                  <a:srgbClr val="FFFFFF"/>
                </a:solidFill>
                <a:latin typeface="Segoe UI"/>
                <a:cs typeface="Segoe UI"/>
              </a:rPr>
              <a:t>The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3035808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FDCE7"/>
                </a:solidFill>
                <a:latin typeface="Segoe UI"/>
                <a:cs typeface="Segoe UI"/>
              </a:rPr>
              <a:t>What is already built, how the first clusters get won, and what the seed round buys.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3749039"/>
            <a:ext cx="790041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3749039"/>
            <a:ext cx="79004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24681" y="3749039"/>
            <a:ext cx="1038758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4681" y="3749039"/>
            <a:ext cx="103875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GO-TO-MARKET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91456" y="3749039"/>
            <a:ext cx="727862" cy="28346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7476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1456" y="3749039"/>
            <a:ext cx="72786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60" b="1" spc="90">
                <a:solidFill>
                  <a:srgbClr val="8FA5B7"/>
                </a:solidFill>
                <a:latin typeface="Segoe UI"/>
                <a:cs typeface="Segoe UI"/>
              </a:rPr>
              <a:t>THE ASK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8FA5B7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6364224"/>
            <a:ext cx="9062694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TRACTION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Technology validated — commercial pilot is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What is built and tested today, kept clearly separate from what the next milestone still has to prove.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3454389" cy="1133856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176272"/>
            <a:ext cx="329184" cy="329184"/>
          </a:xfrm>
          <a:prstGeom prst="ellipse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>
                <a:solidFill>
                  <a:srgbClr val="2E8B62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57984"/>
            <a:ext cx="24302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450592"/>
            <a:ext cx="243026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Working prototype built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789" y="1901952"/>
            <a:ext cx="3454389" cy="1133856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43109" y="2176272"/>
            <a:ext cx="329184" cy="329184"/>
          </a:xfrm>
          <a:prstGeom prst="ellipse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3109" y="21762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>
                <a:solidFill>
                  <a:srgbClr val="2E8B62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8597" y="2157984"/>
            <a:ext cx="24302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CCTV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8597" y="2450592"/>
            <a:ext cx="243026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Occupancy detection tested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9211" y="1901952"/>
            <a:ext cx="3454389" cy="1133856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3531" y="2176272"/>
            <a:ext cx="329184" cy="329184"/>
          </a:xfrm>
          <a:prstGeom prst="ellipse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3531" y="21762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>
                <a:solidFill>
                  <a:srgbClr val="2E8B62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9019" y="2157984"/>
            <a:ext cx="24302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9019" y="2450592"/>
            <a:ext cx="243026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Smart-lock prototype built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200400"/>
            <a:ext cx="3454389" cy="1133856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688" y="3474720"/>
            <a:ext cx="329184" cy="329184"/>
          </a:xfrm>
          <a:prstGeom prst="ellipse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474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>
                <a:solidFill>
                  <a:srgbClr val="2E8B62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3456432"/>
            <a:ext cx="24302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Space optimiser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3749039"/>
            <a:ext cx="243026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Layout algorithm prototype built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8789" y="3200400"/>
            <a:ext cx="3454389" cy="1133856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3109" y="3474720"/>
            <a:ext cx="329184" cy="329184"/>
          </a:xfrm>
          <a:prstGeom prst="ellipse">
            <a:avLst/>
          </a:prstGeom>
          <a:solidFill>
            <a:srgbClr val="E6F3E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3109" y="3474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>
                <a:solidFill>
                  <a:srgbClr val="2E8B62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8597" y="3456432"/>
            <a:ext cx="24302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Customer discovery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8597" y="3749039"/>
            <a:ext cx="243026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Operator and customer discussions under way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9211" y="3200400"/>
            <a:ext cx="3454389" cy="1133856"/>
          </a:xfrm>
          <a:prstGeom prst="roundRect">
            <a:avLst>
              <a:gd name="adj" fmla="val 8870"/>
            </a:avLst>
          </a:prstGeom>
          <a:solidFill>
            <a:srgbClr val="FAF2E4"/>
          </a:solidFill>
          <a:ln w="9525">
            <a:solidFill>
              <a:srgbClr val="D8A24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53531" y="3474720"/>
            <a:ext cx="329184" cy="329184"/>
          </a:xfrm>
          <a:prstGeom prst="ellipse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3531" y="3474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9019" y="3456432"/>
            <a:ext cx="24302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4283C"/>
                </a:solidFill>
                <a:latin typeface="Segoe UI Semibold"/>
                <a:cs typeface="Segoe UI Semibold"/>
              </a:rPr>
              <a:t>Commercial proof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9019" y="3749039"/>
            <a:ext cx="243026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>
                <a:solidFill>
                  <a:srgbClr val="4E6274"/>
                </a:solidFill>
                <a:latin typeface="Segoe UI"/>
                <a:cs typeface="Segoe UI"/>
              </a:rPr>
              <a:t>Paid pilots, LOIs and deployment metrics — next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5233" cy="1078992"/>
          </a:xfrm>
          <a:prstGeom prst="roundRect">
            <a:avLst>
              <a:gd name="adj" fmla="val 9322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50292" cy="1078992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5" y="490118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40">
                <a:solidFill>
                  <a:srgbClr val="D8A24C"/>
                </a:solidFill>
                <a:latin typeface="Segoe UI"/>
                <a:cs typeface="Segoe UI"/>
              </a:rPr>
              <a:t>NEXT VALIDATION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5" y="5175504"/>
            <a:ext cx="1010713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FFFFFF"/>
                </a:solidFill>
                <a:latin typeface="Segoe UI"/>
                <a:cs typeface="Segoe UI"/>
              </a:rPr>
              <a:t>Paid pilot deployments in Indore — measuring utilisation, detection accuracy, access reliability and repeat bookings.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21</a:t>
            </a:r>
          </a:p>
        </p:txBody>
      </p:sp>
      <p:sp>
        <p:nvSpPr>
          <p:cNvPr id="45" name="Rectangle 44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94689" y="603504"/>
            <a:ext cx="38404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50" name="Rectangle 49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52" name="Rectangle 51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8368" y="6364224"/>
            <a:ext cx="9515829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Win dense micro-markets before expanding city-wide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The strategy is supply clustering: build enough parking density around a destination to make the network useful.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28618" y="2121408"/>
            <a:ext cx="8334733" cy="0"/>
          </a:xfrm>
          <a:prstGeom prst="line">
            <a:avLst/>
          </a:prstGeom>
          <a:ln w="19050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832606" y="2025395"/>
            <a:ext cx="192024" cy="192024"/>
          </a:xfrm>
          <a:prstGeom prst="ellipse">
            <a:avLst/>
          </a:prstGeom>
          <a:solidFill>
            <a:srgbClr val="D8A24C"/>
          </a:solidFill>
          <a:ln w="3175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432303"/>
            <a:ext cx="2540500" cy="2926080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70662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spc="120">
                <a:solidFill>
                  <a:srgbClr val="AFBCC7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06623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>
                <a:solidFill>
                  <a:srgbClr val="9C6A1C"/>
                </a:solidFill>
                <a:latin typeface="Segoe UI"/>
                <a:cs typeface="Segoe UI"/>
              </a:rPr>
              <a:t>Months 1–6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" y="3072383"/>
            <a:ext cx="195528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0976" y="3273551"/>
            <a:ext cx="19552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spc="70">
                <a:solidFill>
                  <a:srgbClr val="14283C"/>
                </a:solidFill>
                <a:latin typeface="Segoe UI"/>
                <a:cs typeface="Segoe UI"/>
              </a:rPr>
              <a:t>DESTINATION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840479"/>
            <a:ext cx="19552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Acquire 20–30 bays around anchor hubs across Indore.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718304"/>
            <a:ext cx="1955284" cy="329184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718304"/>
            <a:ext cx="19552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4E6274"/>
                </a:solidFill>
                <a:latin typeface="Segoe UI"/>
                <a:cs typeface="Segoe UI"/>
              </a:rPr>
              <a:t>SOLVE COLD START</a:t>
            </a:r>
          </a:p>
        </p:txBody>
      </p:sp>
      <p:sp>
        <p:nvSpPr>
          <p:cNvPr id="18" name="Oval 17"/>
          <p:cNvSpPr/>
          <p:nvPr/>
        </p:nvSpPr>
        <p:spPr>
          <a:xfrm>
            <a:off x="4610850" y="2025395"/>
            <a:ext cx="192024" cy="192024"/>
          </a:xfrm>
          <a:prstGeom prst="ellipse">
            <a:avLst/>
          </a:prstGeom>
          <a:solidFill>
            <a:srgbClr val="23788F"/>
          </a:solidFill>
          <a:ln w="3175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36612" y="2432303"/>
            <a:ext cx="2540500" cy="2926080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9220" y="270662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spc="120">
                <a:solidFill>
                  <a:srgbClr val="AFBCC7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9220" y="2706623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>
                <a:solidFill>
                  <a:srgbClr val="23788F"/>
                </a:solidFill>
                <a:latin typeface="Segoe UI"/>
                <a:cs typeface="Segoe UI"/>
              </a:rPr>
              <a:t>Months 6–12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29220" y="3072383"/>
            <a:ext cx="195528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29220" y="3273551"/>
            <a:ext cx="19552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spc="70">
                <a:solidFill>
                  <a:srgbClr val="14283C"/>
                </a:solidFill>
                <a:latin typeface="Segoe UI"/>
                <a:cs typeface="Segoe UI"/>
              </a:rPr>
              <a:t>PRIVATE SUPPLY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9220" y="3840479"/>
            <a:ext cx="19552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Add driveways and vacant plots fitted with smart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29220" y="4718304"/>
            <a:ext cx="1955284" cy="329184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9220" y="4718304"/>
            <a:ext cx="19552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4E6274"/>
                </a:solidFill>
                <a:latin typeface="Segoe UI"/>
                <a:cs typeface="Segoe UI"/>
              </a:rPr>
              <a:t>DENSER MICRO-RADIUS</a:t>
            </a:r>
          </a:p>
        </p:txBody>
      </p:sp>
      <p:sp>
        <p:nvSpPr>
          <p:cNvPr id="27" name="Oval 26"/>
          <p:cNvSpPr/>
          <p:nvPr/>
        </p:nvSpPr>
        <p:spPr>
          <a:xfrm>
            <a:off x="7389094" y="2025395"/>
            <a:ext cx="192024" cy="192024"/>
          </a:xfrm>
          <a:prstGeom prst="ellipse">
            <a:avLst/>
          </a:prstGeom>
          <a:solidFill>
            <a:srgbClr val="23788F"/>
          </a:solidFill>
          <a:ln w="3175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4856" y="2432303"/>
            <a:ext cx="2540500" cy="2926080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464" y="270662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spc="120">
                <a:solidFill>
                  <a:srgbClr val="AFBCC7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464" y="2706623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>
                <a:solidFill>
                  <a:srgbClr val="23788F"/>
                </a:solidFill>
                <a:latin typeface="Segoe UI"/>
                <a:cs typeface="Segoe UI"/>
              </a:rPr>
              <a:t>Months 12–18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07464" y="3072383"/>
            <a:ext cx="1955285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07464" y="3273551"/>
            <a:ext cx="19552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spc="70">
                <a:solidFill>
                  <a:srgbClr val="14283C"/>
                </a:solidFill>
                <a:latin typeface="Segoe UI"/>
                <a:cs typeface="Segoe UI"/>
              </a:rPr>
              <a:t>CONSUMER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464" y="3840479"/>
            <a:ext cx="19552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Target corporate staff, shoppers and tourists around live nodes.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07464" y="4718304"/>
            <a:ext cx="1955284" cy="329184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7464" y="4718304"/>
            <a:ext cx="19552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4E6274"/>
                </a:solidFill>
                <a:latin typeface="Segoe UI"/>
                <a:cs typeface="Segoe UI"/>
              </a:rPr>
              <a:t>MORE REPEAT BOOKINGS</a:t>
            </a:r>
          </a:p>
        </p:txBody>
      </p:sp>
      <p:sp>
        <p:nvSpPr>
          <p:cNvPr id="36" name="Oval 35"/>
          <p:cNvSpPr/>
          <p:nvPr/>
        </p:nvSpPr>
        <p:spPr>
          <a:xfrm>
            <a:off x="10167339" y="2025395"/>
            <a:ext cx="192024" cy="192024"/>
          </a:xfrm>
          <a:prstGeom prst="ellipse">
            <a:avLst/>
          </a:prstGeom>
          <a:solidFill>
            <a:srgbClr val="23788F"/>
          </a:solidFill>
          <a:ln w="3175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93101" y="2432303"/>
            <a:ext cx="2540500" cy="2926080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5709" y="270662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spc="120">
                <a:solidFill>
                  <a:srgbClr val="AFBCC7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5709" y="2706623"/>
            <a:ext cx="19552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>
                <a:solidFill>
                  <a:srgbClr val="23788F"/>
                </a:solidFill>
                <a:latin typeface="Segoe UI"/>
                <a:cs typeface="Segoe UI"/>
              </a:rPr>
              <a:t>Month 18+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285709" y="3072383"/>
            <a:ext cx="1955284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285709" y="3273551"/>
            <a:ext cx="19552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spc="70">
                <a:solidFill>
                  <a:srgbClr val="14283C"/>
                </a:solidFill>
                <a:latin typeface="Segoe UI"/>
                <a:cs typeface="Segoe UI"/>
              </a:rPr>
              <a:t>B2G EXPANSION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5709" y="3840479"/>
            <a:ext cx="19552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000" b="0">
                <a:solidFill>
                  <a:srgbClr val="4E6274"/>
                </a:solidFill>
                <a:latin typeface="Segoe UI"/>
                <a:cs typeface="Segoe UI"/>
              </a:rPr>
              <a:t>Pursue municipal integrations once pilot economics are proven.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5709" y="4718304"/>
            <a:ext cx="1955284" cy="329184"/>
          </a:xfrm>
          <a:prstGeom prst="roundRect">
            <a:avLst>
              <a:gd name="adj" fmla="val 5000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5709" y="4718304"/>
            <a:ext cx="19552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4E6274"/>
                </a:solidFill>
                <a:latin typeface="Segoe UI"/>
                <a:cs typeface="Segoe UI"/>
              </a:rPr>
              <a:t>SCALE CITY-WIDE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504688"/>
            <a:ext cx="10875233" cy="512064"/>
          </a:xfrm>
          <a:prstGeom prst="roundRect">
            <a:avLst>
              <a:gd name="adj" fmla="val 16071"/>
            </a:avLst>
          </a:prstGeom>
          <a:solidFill>
            <a:srgbClr val="1428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" y="5504688"/>
            <a:ext cx="50292" cy="51206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504688"/>
            <a:ext cx="1021686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spc="20">
                <a:solidFill>
                  <a:srgbClr val="FFFFFF"/>
                </a:solidFill>
                <a:latin typeface="Segoe UI"/>
                <a:cs typeface="Segoe UI"/>
              </a:rPr>
              <a:t>Operating principle: density first, city-wide expansion second.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22</a:t>
            </a:r>
          </a:p>
        </p:txBody>
      </p:sp>
      <p:sp>
        <p:nvSpPr>
          <p:cNvPr id="51" name="Rectangle 50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094689" y="603504"/>
            <a:ext cx="38404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56" name="Rectangle 55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58" name="Rectangle 57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58368" y="6364224"/>
            <a:ext cx="9968964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68172"/>
            <a:ext cx="105156" cy="105156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2062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60" b="1" spc="150">
                <a:solidFill>
                  <a:srgbClr val="23788F"/>
                </a:solidFill>
                <a:latin typeface="Segoe UI"/>
                <a:cs typeface="Segoe U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87523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spc="-35">
                <a:solidFill>
                  <a:srgbClr val="14283C"/>
                </a:solidFill>
                <a:latin typeface="Segoe UI"/>
                <a:cs typeface="Segoe UI"/>
              </a:rPr>
              <a:t>Seed funding to prove the first repeatable parking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E6274"/>
                </a:solidFill>
                <a:latin typeface="Segoe UI"/>
                <a:cs typeface="Segoe UI"/>
              </a:rPr>
              <a:t>₹1.5–₹2.5 Cr for an 18-month execution window across product, hardware and pilot deployment.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682496"/>
            <a:ext cx="10875233" cy="0"/>
          </a:xfrm>
          <a:prstGeom prst="line">
            <a:avLst/>
          </a:prstGeom>
          <a:ln w="9525"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901952"/>
            <a:ext cx="3749039" cy="2615184"/>
          </a:xfrm>
          <a:prstGeom prst="roundRect">
            <a:avLst>
              <a:gd name="adj" fmla="val 3846"/>
            </a:avLst>
          </a:prstGeom>
          <a:solidFill>
            <a:srgbClr val="14283C"/>
          </a:solidFill>
          <a:ln>
            <a:noFill/>
          </a:ln>
          <a:effectLst>
            <a:outerShdw blurRad="114300" dist="25400" dir="5400000" rotWithShape="0">
              <a:srgbClr val="14283C">
                <a:alpha val="13000"/>
              </a:srgbClr>
            </a:outerShdw>
          </a:effectLst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3113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40">
                <a:solidFill>
                  <a:srgbClr val="D8A24C"/>
                </a:solidFill>
                <a:latin typeface="Segoe UI"/>
                <a:cs typeface="Segoe UI"/>
              </a:rPr>
              <a:t>SEED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305409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0" spc="-70">
                <a:solidFill>
                  <a:srgbClr val="FFFFFF"/>
                </a:solidFill>
                <a:latin typeface="Segoe UI Light"/>
                <a:cs typeface="Segoe UI Light"/>
              </a:rPr>
              <a:t>₹1.5–₹2.5 Cr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3346704"/>
            <a:ext cx="3054095" cy="0"/>
          </a:xfrm>
          <a:prstGeom prst="line">
            <a:avLst/>
          </a:prstGeom>
          <a:ln w="9525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3547872"/>
            <a:ext cx="3054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>
                <a:solidFill>
                  <a:srgbClr val="CFDCE7"/>
                </a:solidFill>
                <a:latin typeface="Segoe UI"/>
                <a:cs typeface="Segoe UI"/>
              </a:rPr>
              <a:t>18 months of runway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3054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>
                <a:solidFill>
                  <a:srgbClr val="8FA5B7"/>
                </a:solidFill>
                <a:latin typeface="Segoe UI"/>
                <a:cs typeface="Segoe UI"/>
              </a:rPr>
              <a:t>Indore-first deployment, then a second cluster 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5" y="1938528"/>
            <a:ext cx="67421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40">
                <a:solidFill>
                  <a:srgbClr val="23788F"/>
                </a:solidFill>
                <a:latin typeface="Segoe UI"/>
                <a:cs typeface="Segoe UI"/>
              </a:rPr>
              <a:t>USE OF FUNDS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5" y="23408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4283C"/>
                </a:solidFill>
                <a:latin typeface="Segoe UI"/>
                <a:cs typeface="Segoe UI"/>
              </a:rPr>
              <a:t>Product &amp;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423160"/>
            <a:ext cx="2901665" cy="137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423160"/>
            <a:ext cx="1160666" cy="137160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21537" y="2340864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019" b="1">
                <a:solidFill>
                  <a:srgbClr val="14283C"/>
                </a:solidFill>
                <a:latin typeface="Segoe UI"/>
                <a:cs typeface="Segoe UI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5" y="27980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4283C"/>
                </a:solidFill>
                <a:latin typeface="Segoe UI"/>
                <a:cs typeface="Segoe UI"/>
              </a:rPr>
              <a:t>Hardware tooling + batch production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880360"/>
            <a:ext cx="2901665" cy="137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880360"/>
            <a:ext cx="725416" cy="137160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21537" y="2798064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019" b="1">
                <a:solidFill>
                  <a:srgbClr val="14283C"/>
                </a:solidFill>
                <a:latin typeface="Segoe UI"/>
                <a:cs typeface="Segoe UI"/>
              </a:rP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5" y="32552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4283C"/>
                </a:solidFill>
                <a:latin typeface="Segoe UI"/>
                <a:cs typeface="Segoe UI"/>
              </a:rPr>
              <a:t>Pilot deployment + cluster setup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3337560"/>
            <a:ext cx="2901665" cy="137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3337560"/>
            <a:ext cx="580333" cy="137160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1537" y="3255264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019" b="1">
                <a:solidFill>
                  <a:srgbClr val="14283C"/>
                </a:solidFill>
                <a:latin typeface="Segoe UI"/>
                <a:cs typeface="Segoe UI"/>
              </a:rP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5" y="37124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4283C"/>
                </a:solidFill>
                <a:latin typeface="Segoe UI"/>
                <a:cs typeface="Segoe UI"/>
              </a:rPr>
              <a:t>BD + operator partnerships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3296" y="3794760"/>
            <a:ext cx="2901665" cy="137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3794760"/>
            <a:ext cx="290166" cy="137160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21537" y="3712464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019" b="1">
                <a:solidFill>
                  <a:srgbClr val="14283C"/>
                </a:solidFill>
                <a:latin typeface="Segoe UI"/>
                <a:cs typeface="Segoe U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5" y="4169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>
                <a:solidFill>
                  <a:srgbClr val="14283C"/>
                </a:solidFill>
                <a:latin typeface="Segoe UI"/>
                <a:cs typeface="Segoe UI"/>
              </a:rPr>
              <a:t>Ops, legal + 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4251960"/>
            <a:ext cx="2901665" cy="137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4251960"/>
            <a:ext cx="145083" cy="137160"/>
          </a:xfrm>
          <a:prstGeom prst="rect">
            <a:avLst/>
          </a:prstGeom>
          <a:solidFill>
            <a:srgbClr val="23788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21537" y="4169664"/>
            <a:ext cx="5120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019" b="1">
                <a:solidFill>
                  <a:srgbClr val="14283C"/>
                </a:solidFill>
                <a:latin typeface="Segoe UI"/>
                <a:cs typeface="Segoe UI"/>
              </a:rP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773168"/>
            <a:ext cx="108752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19" b="1" spc="140">
                <a:solidFill>
                  <a:srgbClr val="23788F"/>
                </a:solidFill>
                <a:latin typeface="Segoe UI"/>
                <a:cs typeface="Segoe UI"/>
              </a:rPr>
              <a:t>18-MONTH VALIDATION TARGETS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065776"/>
            <a:ext cx="2554216" cy="786384"/>
          </a:xfrm>
          <a:prstGeom prst="roundRect">
            <a:avLst>
              <a:gd name="adj" fmla="val 1279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065776"/>
            <a:ext cx="45720" cy="78638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065776"/>
            <a:ext cx="207872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60" b="1">
                <a:solidFill>
                  <a:srgbClr val="14283C"/>
                </a:solidFill>
                <a:latin typeface="Segoe UI"/>
                <a:cs typeface="Segoe UI"/>
              </a:rPr>
              <a:t>50+ sites / 1,500 slots live across Indore clusters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32040" y="5065776"/>
            <a:ext cx="2554216" cy="786384"/>
          </a:xfrm>
          <a:prstGeom prst="roundRect">
            <a:avLst>
              <a:gd name="adj" fmla="val 1279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32040" y="5065776"/>
            <a:ext cx="45720" cy="78638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69784" y="5065776"/>
            <a:ext cx="207872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60" b="1">
                <a:solidFill>
                  <a:srgbClr val="14283C"/>
                </a:solidFill>
                <a:latin typeface="Segoe UI"/>
                <a:cs typeface="Segoe UI"/>
              </a:rPr>
              <a:t>Hardware batch production and field testing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05712" y="5065776"/>
            <a:ext cx="2554216" cy="786384"/>
          </a:xfrm>
          <a:prstGeom prst="roundRect">
            <a:avLst>
              <a:gd name="adj" fmla="val 1279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5712" y="5065776"/>
            <a:ext cx="45720" cy="78638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3456" y="5065776"/>
            <a:ext cx="207872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60" b="1">
                <a:solidFill>
                  <a:srgbClr val="14283C"/>
                </a:solidFill>
                <a:latin typeface="Segoe UI"/>
                <a:cs typeface="Segoe UI"/>
              </a:rPr>
              <a:t>Recurring marketplace + B2B SaaS revenue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79385" y="5065776"/>
            <a:ext cx="2554216" cy="786384"/>
          </a:xfrm>
          <a:prstGeom prst="roundRect">
            <a:avLst>
              <a:gd name="adj" fmla="val 12790"/>
            </a:avLst>
          </a:prstGeom>
          <a:solidFill>
            <a:srgbClr val="F2F5F8"/>
          </a:solidFill>
          <a:ln w="9525">
            <a:solidFill>
              <a:srgbClr val="DDE4E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79385" y="5065776"/>
            <a:ext cx="45720" cy="78638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7129" y="5065776"/>
            <a:ext cx="207872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60" b="1">
                <a:solidFill>
                  <a:srgbClr val="14283C"/>
                </a:solidFill>
                <a:latin typeface="Segoe UI"/>
                <a:cs typeface="Segoe UI"/>
              </a:rPr>
              <a:t>One municipal trial opened after pilot proof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053328"/>
            <a:ext cx="108752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0">
                <a:solidFill>
                  <a:srgbClr val="4E6274"/>
                </a:solidFill>
                <a:latin typeface="Segoe UI"/>
                <a:cs typeface="Segoe UI"/>
              </a:rPr>
              <a:t>Funding objective: prove repeatable unit economics, supply density and operational reliability — then scale.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19201" y="65196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760" b="1" spc="120">
                <a:solidFill>
                  <a:srgbClr val="647585"/>
                </a:solidFill>
                <a:latin typeface="Segoe UI"/>
                <a:cs typeface="Segoe UI"/>
              </a:rPr>
              <a:t>23</a:t>
            </a:r>
          </a:p>
        </p:txBody>
      </p:sp>
      <p:sp>
        <p:nvSpPr>
          <p:cNvPr id="52" name="Rectangle 51">
            <a:hlinkClick action="ppaction://hlinksldjump" r:id="rId2"/>
          </p:cNvPr>
          <p:cNvSpPr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39825" y="329184"/>
            <a:ext cx="4937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14283C"/>
                </a:solidFill>
                <a:latin typeface="Segoe UI"/>
                <a:cs typeface="Segoe UI"/>
              </a:rPr>
              <a:t>PLAN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94689" y="603504"/>
            <a:ext cx="384048" cy="32004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>
            <a:hlinkClick action="ppaction://hlinksldjump" r:id="rId3"/>
          </p:cNvPr>
          <p:cNvSpPr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80289" y="329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BUSINESS</a:t>
            </a:r>
          </a:p>
        </p:txBody>
      </p:sp>
      <p:sp>
        <p:nvSpPr>
          <p:cNvPr id="57" name="Rectangle 56">
            <a:hlinkClick action="ppaction://hlinksldjump" r:id="rId4"/>
          </p:cNvPr>
          <p:cNvSpPr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89333" y="329184"/>
            <a:ext cx="6995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PRODUCT</a:t>
            </a:r>
          </a:p>
        </p:txBody>
      </p:sp>
      <p:sp>
        <p:nvSpPr>
          <p:cNvPr id="59" name="Rectangle 58">
            <a:hlinkClick action="ppaction://hlinksldjump" r:id="rId5"/>
          </p:cNvPr>
          <p:cNvSpPr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4057" y="329184"/>
            <a:ext cx="9738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740" b="1" spc="100">
                <a:solidFill>
                  <a:srgbClr val="B8C4CF"/>
                </a:solidFill>
                <a:latin typeface="Segoe UI"/>
                <a:cs typeface="Segoe UI"/>
              </a:rPr>
              <a:t>OPPORTUNITY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EAE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58368" y="6364224"/>
            <a:ext cx="10422098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rotWithShape="1">
            <a:gsLst>
              <a:gs pos="0">
                <a:srgbClr val="0E1F31"/>
              </a:gs>
              <a:gs pos="100000">
                <a:srgbClr val="1D3E5E"/>
              </a:gs>
            </a:gsLst>
            <a:lin scaled="0" ang="1980000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320000">
            <a:off x="7498079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20000">
            <a:off x="7955279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320000">
            <a:off x="8412480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320000">
            <a:off x="8869680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320000">
            <a:off x="9326880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320000">
            <a:off x="9784080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320000">
            <a:off x="10241280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320000">
            <a:off x="10698480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320000">
            <a:off x="11155680" y="4846320"/>
            <a:ext cx="73152" cy="1280160"/>
          </a:xfrm>
          <a:prstGeom prst="rect">
            <a:avLst/>
          </a:prstGeom>
          <a:solidFill>
            <a:srgbClr val="14395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3" y="1572768"/>
            <a:ext cx="3218688" cy="321868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41248" y="2011680"/>
            <a:ext cx="566928" cy="45720"/>
          </a:xfrm>
          <a:prstGeom prst="rect">
            <a:avLst/>
          </a:prstGeom>
          <a:solidFill>
            <a:srgbClr val="D8A24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267712"/>
            <a:ext cx="64008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400" b="1" spc="220">
                <a:solidFill>
                  <a:srgbClr val="FFFFFF"/>
                </a:solidFill>
                <a:latin typeface="Segoe UI"/>
                <a:cs typeface="Segoe UI"/>
              </a:rPr>
              <a:t>PARKFNB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145536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FDCE7"/>
                </a:solidFill>
                <a:latin typeface="Segoe UI"/>
                <a:cs typeface="Segoe UI"/>
              </a:rPr>
              <a:t>One network for finding, protecting, managing and monetising parking.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986784"/>
            <a:ext cx="4160520" cy="0"/>
          </a:xfrm>
          <a:prstGeom prst="line">
            <a:avLst/>
          </a:prstGeom>
          <a:ln w="9525">
            <a:solidFill>
              <a:srgbClr val="2440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418795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spc="140">
                <a:solidFill>
                  <a:srgbClr val="8FA5B7"/>
                </a:solidFill>
                <a:latin typeface="Segoe UI"/>
                <a:cs typeface="Segoe UI"/>
              </a:rPr>
              <a:t>SEED ROUND  ·  2026  ·  INDORE, MADHYA PRADESH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7000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30">
                <a:solidFill>
                  <a:srgbClr val="8FA5B7"/>
                </a:solidFill>
                <a:latin typeface="Segoe UI"/>
                <a:cs typeface="Segoe UI"/>
              </a:rPr>
              <a:t>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91947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</a:rPr>
              <a:t>[Founder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47000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30">
                <a:solidFill>
                  <a:srgbClr val="8FA5B7"/>
                </a:solidFill>
                <a:latin typeface="Segoe UI"/>
                <a:cs typeface="Segoe UI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491947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</a:rPr>
              <a:t>[email address]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7000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30">
                <a:solidFill>
                  <a:srgbClr val="8FA5B7"/>
                </a:solidFill>
                <a:latin typeface="Segoe UI"/>
                <a:cs typeface="Segoe UI"/>
              </a:rPr>
              <a:t>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491947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</a:rPr>
              <a:t>[phone number]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9525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60" b="1" spc="120">
                <a:solidFill>
                  <a:srgbClr val="8FA5B7"/>
                </a:solidFill>
                <a:latin typeface="Segoe UI"/>
                <a:cs typeface="Segoe UI"/>
              </a:rPr>
              <a:t>PARKFNB  ·  CONFIDENTIAL INVESTOR MATERIAL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244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6364224"/>
            <a:ext cx="10875233" cy="0"/>
          </a:xfrm>
          <a:prstGeom prst="line">
            <a:avLst/>
          </a:prstGeom>
          <a:ln w="19050">
            <a:solidFill>
              <a:srgbClr val="D8A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Parkfnb — Investor Pitch Deck</dc:title>
  <dc:subject>Seed round, 2026</dc:subject>
  <dc:creator>Parkfnb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