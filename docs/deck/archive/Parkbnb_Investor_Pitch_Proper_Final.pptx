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2" r:id="rId4"/>
    <p:sldId id="258" r:id="rId5"/>
    <p:sldId id="273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4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14" y="4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0716C-BEEE-4BA8-B9FC-17A9DE01E57B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E640B6-DE5F-4F1A-A833-EFCD5D1EC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519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640B6-DE5F-4F1A-A833-EFCD5D1EC0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277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640B6-DE5F-4F1A-A833-EFCD5D1EC0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559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3840480" cy="3840480"/>
          </a:xfrm>
          <a:prstGeom prst="ellipse">
            <a:avLst/>
          </a:prstGeom>
          <a:solidFill>
            <a:srgbClr val="143D5D"/>
          </a:solidFill>
          <a:ln>
            <a:solidFill>
              <a:srgbClr val="143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3A306A"/>
          </a:solidFill>
          <a:ln>
            <a:solidFill>
              <a:srgbClr val="3A3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993392"/>
            <a:ext cx="59436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/>
              </a:rPr>
              <a:t>PARKBNB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670048"/>
            <a:ext cx="62179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1">
                <a:solidFill>
                  <a:srgbClr val="D7E1E8"/>
                </a:solidFill>
                <a:latin typeface="Aptos"/>
              </a:rPr>
              <a:t>The operating layer for fragmented urban parking capacity.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218688"/>
            <a:ext cx="71323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EB341"/>
                </a:solidFill>
                <a:latin typeface="Aptos"/>
              </a:rPr>
              <a:t>FIND   •   PROTECT   •   SPECIALIZE   •   MANAGE   •   MONETIZE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5230368"/>
            <a:ext cx="3959352" cy="0"/>
          </a:xfrm>
          <a:prstGeom prst="line">
            <a:avLst/>
          </a:prstGeom>
          <a:ln w="12700">
            <a:solidFill>
              <a:srgbClr val="5071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8" y="5468112"/>
            <a:ext cx="5303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C8D6E0"/>
                </a:solidFill>
                <a:latin typeface="Aptos"/>
              </a:rPr>
              <a:t>Seed Investment Round  ·  2026  ·  Indore, MP, India</a:t>
            </a:r>
          </a:p>
        </p:txBody>
      </p:sp>
      <p:pic>
        <p:nvPicPr>
          <p:cNvPr id="10" name="Picture 9" descr="slide1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60"/>
            <a:ext cx="3063240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09560" y="4828032"/>
            <a:ext cx="3474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One network connecting demand, physical access, live occupancy and parking capacity.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2377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BECCD6"/>
                </a:solidFill>
                <a:latin typeface="Aptos"/>
              </a:rPr>
              <a:t>Parkbnb —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BECCD6"/>
                </a:solidFill>
                <a:latin typeface="Aptos"/>
              </a:rPr>
              <a:t>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solidFill>
              <a:srgbClr val="F6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A748F"/>
                </a:solidFill>
                <a:latin typeface="Apto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9494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0C2A48"/>
                </a:solidFill>
                <a:latin typeface="Georgia"/>
              </a:rPr>
              <a:t>Parking is not one problem — it is a broken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1">
                <a:solidFill>
                  <a:srgbClr val="677784"/>
                </a:solidFill>
                <a:latin typeface="Aptos"/>
              </a:rPr>
              <a:t>Demand exists. Space exists. Infrastructure exists. What is missing is the digital layer connecting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874519"/>
            <a:ext cx="2084831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0352" y="1874519"/>
            <a:ext cx="54864" cy="3429000"/>
          </a:xfrm>
          <a:prstGeom prst="roundRect">
            <a:avLst/>
          </a:prstGeom>
          <a:solidFill>
            <a:srgbClr val="6C4A9E"/>
          </a:solidFill>
          <a:ln>
            <a:solidFill>
              <a:srgbClr val="6C4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19" y="2075688"/>
            <a:ext cx="310896" cy="310896"/>
          </a:xfrm>
          <a:prstGeom prst="roundRect">
            <a:avLst/>
          </a:prstGeom>
          <a:solidFill>
            <a:srgbClr val="6C4A9E"/>
          </a:solidFill>
          <a:ln>
            <a:solidFill>
              <a:srgbClr val="6C4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19" y="2075688"/>
            <a:ext cx="31089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514600"/>
            <a:ext cx="1627631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0C2A48"/>
                </a:solidFill>
                <a:latin typeface="Georgia"/>
              </a:rPr>
              <a:t>Destination uncertainty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017520"/>
            <a:ext cx="1627631" cy="2130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77784"/>
                </a:solidFill>
                <a:latin typeface="Aptos"/>
              </a:rPr>
              <a:t>Drivers reaching markets, offices or hospitals cannot reliably verify open parking in advance.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1874519"/>
            <a:ext cx="2084831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834640" y="1874519"/>
            <a:ext cx="54864" cy="3429000"/>
          </a:xfrm>
          <a:prstGeom prst="roundRect">
            <a:avLst/>
          </a:prstGeom>
          <a:solidFill>
            <a:srgbClr val="C14137"/>
          </a:solidFill>
          <a:ln>
            <a:solidFill>
              <a:srgbClr val="C14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035808" y="2075688"/>
            <a:ext cx="310896" cy="310896"/>
          </a:xfrm>
          <a:prstGeom prst="roundRect">
            <a:avLst/>
          </a:prstGeom>
          <a:solidFill>
            <a:srgbClr val="C14137"/>
          </a:solidFill>
          <a:ln>
            <a:solidFill>
              <a:srgbClr val="C14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35808" y="2075688"/>
            <a:ext cx="31089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514600"/>
            <a:ext cx="1627631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 i="0" dirty="0">
                <a:solidFill>
                  <a:srgbClr val="0C2A48"/>
                </a:solidFill>
                <a:latin typeface="Georgia"/>
              </a:rPr>
              <a:t>Unauthorized usage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017520"/>
            <a:ext cx="1627631" cy="2130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77784"/>
                </a:solidFill>
                <a:latin typeface="Aptos"/>
              </a:rPr>
              <a:t>Private parking and driveway owners face squatting with little control over who parks there.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38928" y="1874519"/>
            <a:ext cx="2084831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138928" y="1874519"/>
            <a:ext cx="54864" cy="3429000"/>
          </a:xfrm>
          <a:prstGeom prst="roundRect">
            <a:avLst/>
          </a:prstGeom>
          <a:solidFill>
            <a:srgbClr val="EBA939"/>
          </a:solidFill>
          <a:ln>
            <a:solidFill>
              <a:srgbClr val="EBA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340096" y="2075688"/>
            <a:ext cx="310896" cy="310896"/>
          </a:xfrm>
          <a:prstGeom prst="roundRect">
            <a:avLst/>
          </a:prstGeom>
          <a:solidFill>
            <a:srgbClr val="EBA939"/>
          </a:solidFill>
          <a:ln>
            <a:solidFill>
              <a:srgbClr val="EBA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40096" y="2075688"/>
            <a:ext cx="31089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2514600"/>
            <a:ext cx="1627631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 i="0" dirty="0">
                <a:solidFill>
                  <a:srgbClr val="0C2A48"/>
                </a:solidFill>
                <a:latin typeface="Georgia"/>
              </a:rPr>
              <a:t>Large-vehicle friction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67528" y="3017520"/>
            <a:ext cx="1627631" cy="2130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 dirty="0">
                <a:solidFill>
                  <a:srgbClr val="677784"/>
                </a:solidFill>
                <a:latin typeface="Aptos"/>
              </a:rPr>
              <a:t>Buses, shuttles and logistics fleets need turning radius, clearance and legal waiting space.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43216" y="1874519"/>
            <a:ext cx="2084831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443216" y="1874519"/>
            <a:ext cx="54864" cy="3429000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644384" y="2075688"/>
            <a:ext cx="310896" cy="310896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44384" y="2075688"/>
            <a:ext cx="31089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71816" y="2514600"/>
            <a:ext cx="1627631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0C2A48"/>
                </a:solidFill>
                <a:latin typeface="Georgia"/>
              </a:rPr>
              <a:t>Under-managed lots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71816" y="3017520"/>
            <a:ext cx="1627631" cy="2130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 dirty="0">
                <a:solidFill>
                  <a:srgbClr val="677784"/>
                </a:solidFill>
                <a:latin typeface="Aptos"/>
              </a:rPr>
              <a:t>Commercial lots have capacity but often rely on manual entry and passive CCTV.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47504" y="1874519"/>
            <a:ext cx="2084831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747504" y="1874519"/>
            <a:ext cx="54864" cy="3429000"/>
          </a:xfrm>
          <a:prstGeom prst="roundRect">
            <a:avLst/>
          </a:prstGeom>
          <a:solidFill>
            <a:srgbClr val="24A058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948672" y="2075688"/>
            <a:ext cx="310896" cy="310896"/>
          </a:xfrm>
          <a:prstGeom prst="roundRect">
            <a:avLst/>
          </a:prstGeom>
          <a:solidFill>
            <a:srgbClr val="24A058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948672" y="2075688"/>
            <a:ext cx="31089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76104" y="2514600"/>
            <a:ext cx="1627631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0C2A48"/>
                </a:solidFill>
                <a:latin typeface="Georgia"/>
              </a:rPr>
              <a:t>Idle capacity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76104" y="3017520"/>
            <a:ext cx="1627631" cy="2130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77784"/>
                </a:solidFill>
                <a:latin typeface="Aptos"/>
              </a:rPr>
              <a:t>Owners lack an end-to-end tool for listing, booking, access, payment and payout.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0352" y="5596128"/>
            <a:ext cx="11137392" cy="530352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49808" y="5733288"/>
            <a:ext cx="1069848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Parkbnb turns fragmented parking capacity into a connected, bookable and controllable network.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" y="6510528"/>
            <a:ext cx="2377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77784"/>
                </a:solidFill>
                <a:latin typeface="Aptos"/>
              </a:rPr>
              <a:t>Parkbnb — Confidential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77784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23275" cy="2308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 dirty="0" smtClean="0">
                <a:solidFill>
                  <a:srgbClr val="0284C7"/>
                </a:solidFill>
                <a:latin typeface="Aptos"/>
              </a:rPr>
              <a:t> </a:t>
            </a:r>
            <a:r>
              <a:rPr sz="900" b="1" dirty="0">
                <a:solidFill>
                  <a:srgbClr val="0284C7"/>
                </a:solidFill>
                <a:latin typeface="Aptos"/>
              </a:rPr>
              <a:t>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Five everyday parking journeys. One missing certainty.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The same problem appears at offices, markets, temples, tourist destinations and transport hubs.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084831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64008" cy="3246120"/>
          </a:xfrm>
          <a:prstGeom prst="rect">
            <a:avLst/>
          </a:prstGeom>
          <a:solidFill>
            <a:srgbClr val="0284C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975104"/>
            <a:ext cx="17007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Corporate Employee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31720"/>
            <a:ext cx="1700784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Aptos"/>
              </a:rPr>
              <a:t>Needs predictable parking near office, often at a fixed arrival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59" y="4645152"/>
            <a:ext cx="96012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4672584"/>
            <a:ext cx="960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0284C7"/>
                </a:solidFill>
                <a:latin typeface="Aptos"/>
              </a:rPr>
              <a:t>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8648" y="1828800"/>
            <a:ext cx="2084831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98648" y="1828800"/>
            <a:ext cx="64008" cy="3246120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99816" y="1975104"/>
            <a:ext cx="17007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Staff / Corporate Bus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9816" y="2331720"/>
            <a:ext cx="1700784" cy="6001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Aptos"/>
              </a:rPr>
              <a:t>Needs safe, legal short-duration waiting / pickup space.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81528" y="4645152"/>
            <a:ext cx="96012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81528" y="4672584"/>
            <a:ext cx="960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0D9488"/>
                </a:solidFill>
                <a:latin typeface="Aptos"/>
              </a:rPr>
              <a:t>TRANSIT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7216" y="1828800"/>
            <a:ext cx="2084831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157216" y="1828800"/>
            <a:ext cx="64008" cy="3246120"/>
          </a:xfrm>
          <a:prstGeom prst="rect">
            <a:avLst/>
          </a:prstGeom>
          <a:solidFill>
            <a:srgbClr val="D97706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58384" y="1975104"/>
            <a:ext cx="17007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Shopper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8384" y="2331720"/>
            <a:ext cx="1700784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Aptos"/>
              </a:rPr>
              <a:t>Reaches a market or high street and only then discovers whether parking is available.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0096" y="4645152"/>
            <a:ext cx="96012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40096" y="4672584"/>
            <a:ext cx="960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D97706"/>
                </a:solidFill>
                <a:latin typeface="Aptos"/>
              </a:rPr>
              <a:t>SHOP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15783" y="1828800"/>
            <a:ext cx="2084831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15783" y="1828800"/>
            <a:ext cx="64008" cy="3246120"/>
          </a:xfrm>
          <a:prstGeom prst="rect">
            <a:avLst/>
          </a:prstGeom>
          <a:solidFill>
            <a:srgbClr val="16A34A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16952" y="1975104"/>
            <a:ext cx="17007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Tourist / Pilgrim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16952" y="2331720"/>
            <a:ext cx="1700784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Aptos"/>
              </a:rPr>
              <a:t>Travels to a temple or attraction with uncertain nearby parking and peak-time demand.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98663" y="4645152"/>
            <a:ext cx="96012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98663" y="4672584"/>
            <a:ext cx="960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16A34A"/>
                </a:solidFill>
                <a:latin typeface="Aptos"/>
              </a:rPr>
              <a:t>VISIT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74352" y="1828800"/>
            <a:ext cx="2084831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674352" y="1828800"/>
            <a:ext cx="64008" cy="3246120"/>
          </a:xfrm>
          <a:prstGeom prst="rect">
            <a:avLst/>
          </a:prstGeom>
          <a:solidFill>
            <a:srgbClr val="E11D48"/>
          </a:solidFill>
          <a:ln w="1016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75520" y="1975104"/>
            <a:ext cx="17007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Commercial / Fleet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2331720"/>
            <a:ext cx="164592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Aptos"/>
              </a:rPr>
              <a:t>Needs short-duration loading, service or fleet parking near a destination.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57232" y="4645152"/>
            <a:ext cx="96012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57232" y="4672584"/>
            <a:ext cx="960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E11D48"/>
                </a:solidFill>
                <a:latin typeface="Aptos"/>
              </a:rPr>
              <a:t>FLEET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413248"/>
            <a:ext cx="10881360" cy="576072"/>
          </a:xfrm>
          <a:prstGeom prst="roundRect">
            <a:avLst/>
          </a:prstGeom>
          <a:solidFill>
            <a:srgbClr val="E0F2FE"/>
          </a:solidFill>
          <a:ln w="1016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" y="5550408"/>
            <a:ext cx="10424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0284C7"/>
                </a:solidFill>
                <a:latin typeface="Aptos"/>
              </a:rPr>
              <a:t>Common demand signal: “I am going to X — show me a trusted place to park there, for my time window.”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80467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PARKBNB  •  CONFIDENTIAL INVESTOR MATERIAL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84573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solidFill>
              <a:srgbClr val="F6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A748F"/>
                </a:solidFill>
                <a:latin typeface="Aptos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9494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0C2A48"/>
                </a:solidFill>
                <a:latin typeface="Georgia"/>
              </a:rPr>
              <a:t>Parkbnb: one operating layer across the parking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1">
                <a:solidFill>
                  <a:srgbClr val="677784"/>
                </a:solidFill>
                <a:latin typeface="Aptos"/>
              </a:rPr>
              <a:t>Not another parking app — a unified layer connecting demand, physical access and spatial management.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856231"/>
            <a:ext cx="2084831" cy="3675887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19" y="2084831"/>
            <a:ext cx="1737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C4A9E"/>
                </a:solidFill>
                <a:latin typeface="Aptos"/>
              </a:rPr>
              <a:t>FIND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468880"/>
            <a:ext cx="1737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C2A48"/>
                </a:solidFill>
                <a:latin typeface="Georgia"/>
              </a:rPr>
              <a:t>Drivers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19" y="3127248"/>
            <a:ext cx="1682496" cy="54864"/>
          </a:xfrm>
          <a:prstGeom prst="rect">
            <a:avLst/>
          </a:prstGeom>
          <a:solidFill>
            <a:srgbClr val="6C4A9E"/>
          </a:solidFill>
          <a:ln>
            <a:solidFill>
              <a:srgbClr val="6C4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19" y="3383280"/>
            <a:ext cx="1664208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77784"/>
                </a:solidFill>
                <a:latin typeface="Aptos"/>
              </a:rPr>
              <a:t>Discover nearby supply
Reserve a verified slot
Navigate and park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5001768"/>
            <a:ext cx="1682496" cy="347472"/>
          </a:xfrm>
          <a:prstGeom prst="roundRect">
            <a:avLst/>
          </a:prstGeom>
          <a:solidFill>
            <a:srgbClr val="6C4A9E"/>
          </a:solidFill>
          <a:ln>
            <a:solidFill>
              <a:srgbClr val="6C4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3" y="5038344"/>
            <a:ext cx="1572768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NETWORK NODE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1856231"/>
            <a:ext cx="2084831" cy="3675887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35808" y="2084831"/>
            <a:ext cx="1737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A748F"/>
                </a:solidFill>
                <a:latin typeface="Aptos"/>
              </a:rPr>
              <a:t>PROTECT &amp; 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2468880"/>
            <a:ext cx="1737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C2A48"/>
                </a:solidFill>
                <a:latin typeface="Georgia"/>
              </a:rPr>
              <a:t>Space owners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35808" y="3127248"/>
            <a:ext cx="1682496" cy="54864"/>
          </a:xfrm>
          <a:prstGeom prst="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35808" y="3383280"/>
            <a:ext cx="1664208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77784"/>
                </a:solidFill>
                <a:latin typeface="Aptos"/>
              </a:rPr>
              <a:t>List idle hours
Control access
Receive direct payout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35808" y="5001768"/>
            <a:ext cx="1682496" cy="347472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90672" y="5038344"/>
            <a:ext cx="1572768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NETWORK NODE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38928" y="1856231"/>
            <a:ext cx="2084831" cy="3675887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40096" y="2084831"/>
            <a:ext cx="1737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EBA939"/>
                </a:solidFill>
                <a:latin typeface="Aptos"/>
              </a:rPr>
              <a:t>SPECIALIZE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0096" y="2468880"/>
            <a:ext cx="1737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C2A48"/>
                </a:solidFill>
                <a:latin typeface="Georgia"/>
              </a:rPr>
              <a:t>Buses &amp; fleets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40096" y="3127248"/>
            <a:ext cx="1682496" cy="54864"/>
          </a:xfrm>
          <a:prstGeom prst="rect">
            <a:avLst/>
          </a:prstGeom>
          <a:solidFill>
            <a:srgbClr val="EBA939"/>
          </a:solidFill>
          <a:ln>
            <a:solidFill>
              <a:srgbClr val="EBA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40096" y="3383280"/>
            <a:ext cx="1664208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77784"/>
                </a:solidFill>
                <a:latin typeface="Aptos"/>
              </a:rPr>
              <a:t>Match vehicle dimensions
Reserve time slots
Use dedicated bays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40096" y="5001768"/>
            <a:ext cx="1682496" cy="347472"/>
          </a:xfrm>
          <a:prstGeom prst="roundRect">
            <a:avLst/>
          </a:prstGeom>
          <a:solidFill>
            <a:srgbClr val="EBA939"/>
          </a:solidFill>
          <a:ln>
            <a:solidFill>
              <a:srgbClr val="EBA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94959" y="5038344"/>
            <a:ext cx="1572768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NETWORK NODE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43216" y="1856231"/>
            <a:ext cx="2084831" cy="3675887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44384" y="2084831"/>
            <a:ext cx="1737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B87A4"/>
                </a:solidFill>
                <a:latin typeface="Aptos"/>
              </a:rPr>
              <a:t>MANAGE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44384" y="2468880"/>
            <a:ext cx="1737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C2A48"/>
                </a:solidFill>
                <a:latin typeface="Georgia"/>
              </a:rPr>
              <a:t>Operators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44384" y="3127248"/>
            <a:ext cx="1682496" cy="54864"/>
          </a:xfrm>
          <a:prstGeom prst="rect">
            <a:avLst/>
          </a:prstGeom>
          <a:solidFill>
            <a:srgbClr val="2B87A4"/>
          </a:solidFill>
          <a:ln>
            <a:solidFill>
              <a:srgbClr val="2B8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44384" y="3383280"/>
            <a:ext cx="1664208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77784"/>
                </a:solidFill>
                <a:latin typeface="Aptos"/>
              </a:rPr>
              <a:t>CCTV Edge AI
ANPR + barriers
Occupancy + pricing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44384" y="5001768"/>
            <a:ext cx="1682496" cy="347472"/>
          </a:xfrm>
          <a:prstGeom prst="roundRect">
            <a:avLst/>
          </a:prstGeom>
          <a:solidFill>
            <a:srgbClr val="2B87A4"/>
          </a:solidFill>
          <a:ln>
            <a:solidFill>
              <a:srgbClr val="2B8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99248" y="5038344"/>
            <a:ext cx="1572768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NETWORK NODE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47504" y="1856231"/>
            <a:ext cx="2084831" cy="3675887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948672" y="2084831"/>
            <a:ext cx="1737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4A058"/>
                </a:solidFill>
                <a:latin typeface="Aptos"/>
              </a:rPr>
              <a:t>CREATE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48672" y="2468880"/>
            <a:ext cx="1737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C2A48"/>
                </a:solidFill>
                <a:latin typeface="Georgia"/>
              </a:rPr>
              <a:t>Site creators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48672" y="3127248"/>
            <a:ext cx="1682496" cy="54864"/>
          </a:xfrm>
          <a:prstGeom prst="rect">
            <a:avLst/>
          </a:prstGeom>
          <a:solidFill>
            <a:srgbClr val="24A058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948672" y="3383280"/>
            <a:ext cx="1664208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77784"/>
                </a:solidFill>
                <a:latin typeface="Aptos"/>
              </a:rPr>
              <a:t>Ingest site imagery
Optimize geometry
Create bookable capacity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48672" y="5001768"/>
            <a:ext cx="1682496" cy="347472"/>
          </a:xfrm>
          <a:prstGeom prst="roundRect">
            <a:avLst/>
          </a:prstGeom>
          <a:solidFill>
            <a:srgbClr val="24A058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003536" y="5038344"/>
            <a:ext cx="1572768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NETWORK NODE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0352" y="5760720"/>
            <a:ext cx="11137392" cy="438912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" y="5861304"/>
            <a:ext cx="10744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Network effect: more supply → better discovery → more bookings → richer occupancy data → better operations.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6510528"/>
            <a:ext cx="2377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77784"/>
                </a:solidFill>
                <a:latin typeface="Aptos"/>
              </a:rPr>
              <a:t>Parkbnb — Confidential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77784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dirty="0" smtClean="0">
                <a:solidFill>
                  <a:srgbClr val="0284C7"/>
                </a:solidFill>
                <a:latin typeface="Aptos"/>
              </a:rPr>
              <a:t>PRODUCT </a:t>
            </a:r>
            <a:r>
              <a:rPr sz="900" b="1" dirty="0">
                <a:solidFill>
                  <a:srgbClr val="0284C7"/>
                </a:solidFill>
                <a:latin typeface="Aptos"/>
              </a:rPr>
              <a:t>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THE SAME PLATFORM SERVES DIFFERENT PARKING ASSETS.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Different spaces need different levels of access control and intelligence — the software layer stays connected.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8813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984248"/>
            <a:ext cx="1417320" cy="310896"/>
          </a:xfrm>
          <a:prstGeom prst="roundRect">
            <a:avLst/>
          </a:prstGeom>
          <a:solidFill>
            <a:srgbClr val="E0F2FE"/>
          </a:solidFill>
          <a:ln w="1016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11679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284C7"/>
                </a:solidFill>
                <a:latin typeface="Aptos"/>
              </a:rPr>
              <a:t>HOUSEHOLD / SINGLE BAY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956816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List idle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95681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Smart lock / ParkoBot-type 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956816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284C7"/>
                </a:solidFill>
                <a:latin typeface="Aptos"/>
              </a:rPr>
              <a:t>Owner payout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24328"/>
            <a:ext cx="108813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2960" y="2825496"/>
            <a:ext cx="1417320" cy="310896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85292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D9488"/>
                </a:solidFill>
                <a:latin typeface="Aptos"/>
              </a:rPr>
              <a:t>PRIVATE PLOT / SMALL 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798064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List multiple spaces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79806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Barrier + QR / 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798064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9488"/>
                </a:solidFill>
                <a:latin typeface="Aptos"/>
              </a:rPr>
              <a:t>Bookings + occupancy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65576"/>
            <a:ext cx="108813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" y="3666744"/>
            <a:ext cx="1417320" cy="310896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69417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D97706"/>
                </a:solidFill>
                <a:latin typeface="Aptos"/>
              </a:rPr>
              <a:t>MALL / OFFICE / SOCIETY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639312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Manage existing capacity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6393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Existing barrier + ANPR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3639312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D97706"/>
                </a:solidFill>
                <a:latin typeface="Aptos"/>
              </a:rPr>
              <a:t>CCTV + analytics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306824"/>
            <a:ext cx="108813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2960" y="4507992"/>
            <a:ext cx="1417320" cy="310896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4535424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16A34A"/>
                </a:solidFill>
                <a:latin typeface="Aptos"/>
              </a:rPr>
              <a:t>BUS / FLEET PARKING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448056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Reserve large space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44805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Controlled entry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4480560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6A34A"/>
                </a:solidFill>
                <a:latin typeface="Aptos"/>
              </a:rPr>
              <a:t>Time-window + vehicle verification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148072"/>
            <a:ext cx="108813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22960" y="5349240"/>
            <a:ext cx="1417320" cy="310896"/>
          </a:xfrm>
          <a:prstGeom prst="roundRect">
            <a:avLst/>
          </a:prstGeom>
          <a:solidFill>
            <a:srgbClr val="FFE4E6"/>
          </a:solidFill>
          <a:ln w="10160">
            <a:solidFill>
              <a:srgbClr val="FF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376672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E11D48"/>
                </a:solidFill>
                <a:latin typeface="Aptos"/>
              </a:rPr>
              <a:t>NEW PARKING SITE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5321808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Create capacity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532180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Geometry optimizer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5321808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11D48"/>
                </a:solidFill>
                <a:latin typeface="Aptos"/>
              </a:rPr>
              <a:t>Slot layout + circulation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28800" y="6144768"/>
            <a:ext cx="8503920" cy="320040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28800" y="6199632"/>
            <a:ext cx="8503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9" b="1">
                <a:solidFill>
                  <a:srgbClr val="FFFFFF"/>
                </a:solidFill>
                <a:latin typeface="Aptos"/>
              </a:rPr>
              <a:t>APP + ACCESS + AI + OPTIMIZATION = ONE CONNECTED PARKING OPERATING LAYER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PARKBNB  •  CONFIDENTIAL INVESTOR MATERIAL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49725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9653" y="0"/>
            <a:ext cx="12191695" cy="6858000"/>
          </a:xfrm>
          <a:prstGeom prst="rect">
            <a:avLst/>
          </a:prstGeom>
          <a:solidFill>
            <a:srgbClr val="F6F9FB"/>
          </a:solidFill>
          <a:ln>
            <a:solidFill>
              <a:srgbClr val="F6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A748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9494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0C2A48"/>
                </a:solidFill>
                <a:latin typeface="Georgia"/>
              </a:rPr>
              <a:t>From search to settlement — with physical access in 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28800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 dirty="0">
                <a:solidFill>
                  <a:srgbClr val="1A748F"/>
                </a:solidFill>
                <a:latin typeface="Aptos"/>
              </a:rPr>
              <a:t>DRIVER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267712"/>
            <a:ext cx="4892040" cy="530352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2386584"/>
            <a:ext cx="4636007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Search destination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54680" y="2798064"/>
            <a:ext cx="0" cy="182880"/>
          </a:xfrm>
          <a:prstGeom prst="line">
            <a:avLst/>
          </a:prstGeom>
          <a:ln w="15240">
            <a:solidFill>
              <a:srgbClr val="1A74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13232" y="2980944"/>
            <a:ext cx="48920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3099815"/>
            <a:ext cx="4636007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Reserve verified slot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54680" y="3511296"/>
            <a:ext cx="0" cy="182880"/>
          </a:xfrm>
          <a:prstGeom prst="line">
            <a:avLst/>
          </a:prstGeom>
          <a:ln w="15240">
            <a:solidFill>
              <a:srgbClr val="1A74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3232" y="3694176"/>
            <a:ext cx="48920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3813048"/>
            <a:ext cx="4636007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 dirty="0">
                <a:solidFill>
                  <a:srgbClr val="233443"/>
                </a:solidFill>
                <a:latin typeface="Aptos"/>
              </a:rPr>
              <a:t>Navigate + unlock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54680" y="4224528"/>
            <a:ext cx="0" cy="182880"/>
          </a:xfrm>
          <a:prstGeom prst="line">
            <a:avLst/>
          </a:prstGeom>
          <a:ln w="15240">
            <a:solidFill>
              <a:srgbClr val="1A74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13232" y="4407408"/>
            <a:ext cx="4892040" cy="530352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4526280"/>
            <a:ext cx="4636007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Auto checkout + pay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1828800"/>
            <a:ext cx="2286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A748F"/>
                </a:solidFill>
                <a:latin typeface="Aptos"/>
              </a:rPr>
              <a:t>SPACE OWNER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73952" y="2267712"/>
            <a:ext cx="4892040" cy="530352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01968" y="2386584"/>
            <a:ext cx="4636007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List idle hours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15400" y="2798064"/>
            <a:ext cx="0" cy="182880"/>
          </a:xfrm>
          <a:prstGeom prst="line">
            <a:avLst/>
          </a:prstGeom>
          <a:ln w="15240">
            <a:solidFill>
              <a:srgbClr val="1A74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73952" y="2980944"/>
            <a:ext cx="48920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01968" y="3099815"/>
            <a:ext cx="4636007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Set rules + price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915400" y="3511296"/>
            <a:ext cx="0" cy="182880"/>
          </a:xfrm>
          <a:prstGeom prst="line">
            <a:avLst/>
          </a:prstGeom>
          <a:ln w="15240">
            <a:solidFill>
              <a:srgbClr val="1A74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73952" y="3694176"/>
            <a:ext cx="48920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01968" y="3813048"/>
            <a:ext cx="4636007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Verified access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915400" y="4224528"/>
            <a:ext cx="0" cy="182880"/>
          </a:xfrm>
          <a:prstGeom prst="line">
            <a:avLst/>
          </a:prstGeom>
          <a:ln w="15240">
            <a:solidFill>
              <a:srgbClr val="1A74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473952" y="4407408"/>
            <a:ext cx="4892040" cy="530352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01968" y="4526280"/>
            <a:ext cx="4636007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70% owner payout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93392" y="5349240"/>
            <a:ext cx="8183879" cy="566928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148840" y="5504688"/>
            <a:ext cx="7863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19" b="1" i="0">
                <a:solidFill>
                  <a:srgbClr val="FFFFFF"/>
                </a:solidFill>
                <a:latin typeface="Aptos"/>
              </a:rPr>
              <a:t>PLATFORM CONTROL PLANE  •  verified access  •  live occupancy  •  automatic settlement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510528"/>
            <a:ext cx="2377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77784"/>
                </a:solidFill>
                <a:latin typeface="Aptos"/>
              </a:rPr>
              <a:t>Parkbnb —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77784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solidFill>
              <a:srgbClr val="F6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A748F"/>
                </a:solidFill>
                <a:latin typeface="Aptos"/>
              </a:rPr>
              <a:t>PRODUCT 01 · CREATE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9494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0C2A48"/>
                </a:solidFill>
                <a:latin typeface="Georgia"/>
              </a:rPr>
              <a:t>Space Optimizer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1">
                <a:solidFill>
                  <a:srgbClr val="677784"/>
                </a:solidFill>
                <a:latin typeface="Aptos"/>
              </a:rPr>
              <a:t>Convert unorganized plots into maximum feasible parking capacity.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10512"/>
            <a:ext cx="4800600" cy="530352"/>
          </a:xfrm>
          <a:prstGeom prst="roundRect">
            <a:avLst/>
          </a:prstGeom>
          <a:solidFill>
            <a:srgbClr val="24A058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29384"/>
            <a:ext cx="45445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Satellite / aerial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395728"/>
            <a:ext cx="48006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514600"/>
            <a:ext cx="45445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Site boundary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980944"/>
            <a:ext cx="48006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3099815"/>
            <a:ext cx="45445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Geometry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566160"/>
            <a:ext cx="48006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3685032"/>
            <a:ext cx="45445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Parking angles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151376"/>
            <a:ext cx="48006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4270248"/>
            <a:ext cx="45445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Aisles + turning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736592"/>
            <a:ext cx="48006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4855464"/>
            <a:ext cx="45445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Constraint checks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5321808"/>
            <a:ext cx="4800600" cy="530352"/>
          </a:xfrm>
          <a:prstGeom prst="roundRect">
            <a:avLst/>
          </a:prstGeom>
          <a:solidFill>
            <a:srgbClr val="24A058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" y="5440680"/>
            <a:ext cx="45445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Optimal layout</a:t>
            </a:r>
          </a:p>
        </p:txBody>
      </p:sp>
      <p:pic>
        <p:nvPicPr>
          <p:cNvPr id="20" name="Picture 19" descr="slide5_img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47088"/>
            <a:ext cx="5074920" cy="2856671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144768" y="4590288"/>
            <a:ext cx="5074920" cy="960120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9088" y="4782312"/>
            <a:ext cx="18288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EEB341"/>
                </a:solidFill>
                <a:latin typeface="Aptos"/>
              </a:rPr>
              <a:t>ILLUSTRATIVE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5047488"/>
            <a:ext cx="27432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Georgia"/>
              </a:rPr>
              <a:t>118 feasible slots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5065776"/>
            <a:ext cx="26517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D7E1E8"/>
                </a:solidFill>
                <a:latin typeface="Aptos"/>
              </a:rPr>
              <a:t>from a 2,450 m² plot → coordinates → aisles → access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2" y="5715000"/>
            <a:ext cx="4983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 i="1">
                <a:solidFill>
                  <a:srgbClr val="677784"/>
                </a:solidFill>
                <a:latin typeface="Aptos"/>
              </a:rPr>
              <a:t>Illustrative example; final capacity depends on site geometry, access and engineering constraints.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2377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77784"/>
                </a:solidFill>
                <a:latin typeface="Aptos"/>
              </a:rPr>
              <a:t>Parkbnb —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77784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solidFill>
              <a:srgbClr val="F6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A748F"/>
                </a:solidFill>
                <a:latin typeface="Aptos"/>
              </a:rPr>
              <a:t>PRODUCT 02 · MANAGE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9494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0C2A48"/>
                </a:solidFill>
                <a:latin typeface="Georgia"/>
              </a:rPr>
              <a:t>Intelligent CCTV Vision (Edge 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1">
                <a:solidFill>
                  <a:srgbClr val="677784"/>
                </a:solidFill>
                <a:latin typeface="Aptos"/>
              </a:rPr>
              <a:t>Turn existing cameras into live occupancy signals without requiring a sensor in every bay.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74519"/>
            <a:ext cx="4800600" cy="530352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93391"/>
            <a:ext cx="45445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CCTV feed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532887"/>
            <a:ext cx="48006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651759"/>
            <a:ext cx="45445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Vehicle 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191256"/>
            <a:ext cx="48006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3310127"/>
            <a:ext cx="45445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Slot occupancy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849624"/>
            <a:ext cx="48006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3968496"/>
            <a:ext cx="45445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ANPR / plate match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507992"/>
            <a:ext cx="4800600" cy="530352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4626864"/>
            <a:ext cx="45445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Wrong alignment + overstay alerts</a:t>
            </a:r>
          </a:p>
        </p:txBody>
      </p:sp>
      <p:pic>
        <p:nvPicPr>
          <p:cNvPr id="16" name="Picture 15" descr="slide6_img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56231"/>
            <a:ext cx="5074920" cy="276813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144768" y="4736592"/>
            <a:ext cx="5074920" cy="841248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4910328"/>
            <a:ext cx="19202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EEB341"/>
                </a:solidFill>
                <a:latin typeface="Aptos"/>
              </a:rPr>
              <a:t>COST POSITIONING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5175504"/>
            <a:ext cx="443484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Reuse existing CCTV 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5742432"/>
            <a:ext cx="49377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40" b="0" i="1">
                <a:solidFill>
                  <a:srgbClr val="677784"/>
                </a:solidFill>
                <a:latin typeface="Aptos"/>
              </a:rPr>
              <a:t>The original deck’s “80% cheaper” claim is intentionally removed until benchmark data is validated.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0528"/>
            <a:ext cx="2377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77784"/>
                </a:solidFill>
                <a:latin typeface="Aptos"/>
              </a:rPr>
              <a:t>Parkbnb —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7778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solidFill>
              <a:srgbClr val="F6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A748F"/>
                </a:solidFill>
                <a:latin typeface="Aptos"/>
              </a:rPr>
              <a:t>PRODUCT 03 · PROTECT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9494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0C2A48"/>
                </a:solidFill>
                <a:latin typeface="Georgia"/>
              </a:rPr>
              <a:t>Smart barrier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1">
                <a:solidFill>
                  <a:srgbClr val="677784"/>
                </a:solidFill>
                <a:latin typeface="Aptos"/>
              </a:rPr>
              <a:t>A private listing is only valuable when the owner can control physical access.</a:t>
            </a:r>
          </a:p>
        </p:txBody>
      </p:sp>
      <p:pic>
        <p:nvPicPr>
          <p:cNvPr id="6" name="Picture 5" descr="slide7_im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755648"/>
            <a:ext cx="5715000" cy="269905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" y="4681728"/>
            <a:ext cx="2514600" cy="960120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4873752"/>
            <a:ext cx="2176272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EB341"/>
                </a:solidFill>
                <a:latin typeface="Aptos"/>
              </a:rPr>
              <a:t>BLE unlock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193792"/>
            <a:ext cx="217627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Aptos"/>
              </a:rPr>
              <a:t>Target &lt; 1.5 sec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4681728"/>
            <a:ext cx="2514600" cy="960120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21024" y="4873752"/>
            <a:ext cx="2176272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EB341"/>
                </a:solidFill>
                <a:latin typeface="Aptos"/>
              </a:rPr>
              <a:t>Low-power actuator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4" y="5193792"/>
            <a:ext cx="217627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Aptos"/>
              </a:rPr>
              <a:t>Solar / long-life battery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4681728"/>
            <a:ext cx="2514600" cy="960120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55664" y="4873752"/>
            <a:ext cx="2176272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EB341"/>
                </a:solidFill>
                <a:latin typeface="Aptos"/>
              </a:rPr>
              <a:t>Weather-resistant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5193792"/>
            <a:ext cx="217627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Aptos"/>
              </a:rPr>
              <a:t>Steel protective casing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25712" y="4681728"/>
            <a:ext cx="2514600" cy="960120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90304" y="4873752"/>
            <a:ext cx="2176272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EB341"/>
                </a:solidFill>
                <a:latin typeface="Aptos"/>
              </a:rPr>
              <a:t>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0304" y="5193792"/>
            <a:ext cx="217627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Aptos"/>
              </a:rPr>
              <a:t>Target 4–6 month payback*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925312"/>
            <a:ext cx="10789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40" b="0" i="1">
                <a:solidFill>
                  <a:srgbClr val="677784"/>
                </a:solidFill>
                <a:latin typeface="Aptos"/>
              </a:rPr>
              <a:t>*Payback is a model assumption based on the unit economics shown later; validate in pilot deployments.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10528"/>
            <a:ext cx="2377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77784"/>
                </a:solidFill>
                <a:latin typeface="Aptos"/>
              </a:rPr>
              <a:t>Parkbnb —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77784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solidFill>
              <a:srgbClr val="F6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A748F"/>
                </a:solidFill>
                <a:latin typeface="Aptos"/>
              </a:rPr>
              <a:t>SPECIALIZED SEGMENT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9494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0C2A48"/>
                </a:solidFill>
                <a:latin typeface="Georgia"/>
              </a:rPr>
              <a:t>Large vehicle &amp; fleet parking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1">
                <a:solidFill>
                  <a:srgbClr val="677784"/>
                </a:solidFill>
                <a:latin typeface="Aptos"/>
              </a:rPr>
              <a:t>Purpose-built capacity for vehicles that cannot use standard parking bays.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47088"/>
            <a:ext cx="349300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86384" y="2084831"/>
            <a:ext cx="420624" cy="420624"/>
          </a:xfrm>
          <a:prstGeom prst="roundRect">
            <a:avLst/>
          </a:prstGeom>
          <a:solidFill>
            <a:srgbClr val="EBA939"/>
          </a:solidFill>
          <a:ln>
            <a:solidFill>
              <a:srgbClr val="EBA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2084831"/>
            <a:ext cx="420624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57400"/>
            <a:ext cx="23317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C2A48"/>
                </a:solidFill>
                <a:latin typeface="Georgia"/>
              </a:rPr>
              <a:t>Corporate &amp; school shuttles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907792"/>
            <a:ext cx="2926080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77784"/>
                </a:solidFill>
                <a:latin typeface="Aptos"/>
              </a:rPr>
              <a:t>Pre-bookable waiting bays near offices and schools.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370832"/>
            <a:ext cx="2907792" cy="347472"/>
          </a:xfrm>
          <a:prstGeom prst="roundRect">
            <a:avLst/>
          </a:prstGeom>
          <a:solidFill>
            <a:srgbClr val="EBA939"/>
          </a:solidFill>
          <a:ln>
            <a:solidFill>
              <a:srgbClr val="EBA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4407408"/>
            <a:ext cx="2798064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Scheduled time slots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847088"/>
            <a:ext cx="349300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90288" y="2084831"/>
            <a:ext cx="420624" cy="420624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0288" y="2084831"/>
            <a:ext cx="420624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4" y="2057400"/>
            <a:ext cx="23317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C2A48"/>
                </a:solidFill>
                <a:latin typeface="Georgia"/>
              </a:rPr>
              <a:t>Tourist &amp; pilgrim coaches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907792"/>
            <a:ext cx="2926080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77784"/>
                </a:solidFill>
                <a:latin typeface="Aptos"/>
              </a:rPr>
              <a:t>Dedicated large bays near shrines, monuments and event venues.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45152" y="4370832"/>
            <a:ext cx="2907792" cy="347472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00016" y="4407408"/>
            <a:ext cx="2798064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Day + overnight bays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74736" y="1847088"/>
            <a:ext cx="349300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94192" y="2084831"/>
            <a:ext cx="420624" cy="420624"/>
          </a:xfrm>
          <a:prstGeom prst="roundRect">
            <a:avLst/>
          </a:prstGeom>
          <a:solidFill>
            <a:srgbClr val="24A058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94192" y="2084831"/>
            <a:ext cx="420624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2057400"/>
            <a:ext cx="23317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C2A48"/>
                </a:solidFill>
                <a:latin typeface="Georgia"/>
              </a:rPr>
              <a:t>Commercial logistics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2907792"/>
            <a:ext cx="2926080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77784"/>
                </a:solidFill>
                <a:latin typeface="Aptos"/>
              </a:rPr>
              <a:t>Guaranteed staging bays for last-mile delivery vehicles.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49056" y="4370832"/>
            <a:ext cx="2907792" cy="347472"/>
          </a:xfrm>
          <a:prstGeom prst="roundRect">
            <a:avLst/>
          </a:prstGeom>
          <a:solidFill>
            <a:srgbClr val="24A058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920" y="4407408"/>
            <a:ext cx="2798064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ANPR + automated access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413248"/>
            <a:ext cx="1104595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BA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5605272"/>
            <a:ext cx="1691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BA939"/>
                </a:solidFill>
                <a:latin typeface="Aptos"/>
              </a:rPr>
              <a:t>Spatial engine advantage: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87168" y="5605272"/>
            <a:ext cx="8641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77784"/>
                </a:solidFill>
                <a:latin typeface="Aptos"/>
              </a:rPr>
              <a:t>match turning radius, height clearance and access constraints to the right bay.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510528"/>
            <a:ext cx="2377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77784"/>
                </a:solidFill>
                <a:latin typeface="Aptos"/>
              </a:rPr>
              <a:t>Parkbnb —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77784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solidFill>
              <a:srgbClr val="F6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A748F"/>
                </a:solidFill>
                <a:latin typeface="Aptos"/>
              </a:rP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9494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0C2A48"/>
                </a:solidFill>
                <a:latin typeface="Georgia"/>
              </a:rPr>
              <a:t>Monetize idle hours — not just real estate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1">
                <a:solidFill>
                  <a:srgbClr val="677784"/>
                </a:solidFill>
                <a:latin typeface="Aptos"/>
              </a:rPr>
              <a:t>Illustrative pilot assumptions: 70% owner / 30% Parkbnb split on gross booking 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47088"/>
            <a:ext cx="5166360" cy="2331720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084831"/>
            <a:ext cx="16459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EEB341"/>
                </a:solidFill>
                <a:latin typeface="Aptos"/>
              </a:rPr>
              <a:t>PER-BAY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4480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₹40/hr × 4 hrs/day × 30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907792"/>
            <a:ext cx="44805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=  ₹4,800 monthly GMV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456432"/>
            <a:ext cx="4297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D7E1E8"/>
                </a:solidFill>
                <a:latin typeface="Aptos"/>
              </a:rPr>
              <a:t>Owner 70%  →  ₹3,360 /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767328"/>
            <a:ext cx="4297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D7E1E8"/>
                </a:solidFill>
                <a:latin typeface="Aptos"/>
              </a:rPr>
              <a:t>Parkbnb 30%  →  ₹1,440 /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4768" y="1847088"/>
            <a:ext cx="4114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A748F"/>
                </a:solidFill>
                <a:latin typeface="Aptos"/>
              </a:rPr>
              <a:t>NETWORK SCALE (same assumptions)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2286000"/>
            <a:ext cx="510235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3716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2A48"/>
                </a:solidFill>
                <a:latin typeface="Georgia"/>
              </a:rPr>
              <a:t>100 bays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7" y="2414016"/>
            <a:ext cx="14173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A748F"/>
                </a:solidFill>
                <a:latin typeface="Aptos"/>
              </a:rPr>
              <a:t>₹4.8L GMV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414016"/>
            <a:ext cx="17830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77784"/>
                </a:solidFill>
                <a:latin typeface="Aptos"/>
              </a:rPr>
              <a:t>₹1.44L Parkbnb take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3246120"/>
            <a:ext cx="510235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3392424"/>
            <a:ext cx="13716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2A48"/>
                </a:solidFill>
                <a:latin typeface="Georgia"/>
              </a:rPr>
              <a:t>1,000 bays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7" y="3374136"/>
            <a:ext cx="14173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A748F"/>
                </a:solidFill>
                <a:latin typeface="Aptos"/>
              </a:rPr>
              <a:t>₹48L GMV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374136"/>
            <a:ext cx="17830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77784"/>
                </a:solidFill>
                <a:latin typeface="Aptos"/>
              </a:rPr>
              <a:t>₹14.4L Parkbnb take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4206240"/>
            <a:ext cx="510235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9088" y="4352544"/>
            <a:ext cx="13716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2A48"/>
                </a:solidFill>
                <a:latin typeface="Georgia"/>
              </a:rPr>
              <a:t>1,500 bays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7" y="4334255"/>
            <a:ext cx="14173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A748F"/>
                </a:solidFill>
                <a:latin typeface="Aptos"/>
              </a:rPr>
              <a:t>₹72L GMV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4334255"/>
            <a:ext cx="17830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77784"/>
                </a:solidFill>
                <a:latin typeface="Aptos"/>
              </a:rPr>
              <a:t>₹21.6L Parkbnb take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5422392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69" b="0" i="1">
                <a:solidFill>
                  <a:srgbClr val="677784"/>
                </a:solidFill>
                <a:latin typeface="Aptos"/>
              </a:rPr>
              <a:t>All figures above are scenario math, not realized revenue. Actual utilization, pricing and churn must be validated in pilots.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5925312"/>
            <a:ext cx="10881360" cy="438912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6025896"/>
            <a:ext cx="105156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40" b="1" i="0">
                <a:solidFill>
                  <a:srgbClr val="FFFFFF"/>
                </a:solidFill>
                <a:latin typeface="Aptos"/>
              </a:rPr>
              <a:t>Hardware cost in source deck: ₹6,000–₹8,000 per unit  |  payback target: 4–6 months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510528"/>
            <a:ext cx="2377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77784"/>
                </a:solidFill>
                <a:latin typeface="Aptos"/>
              </a:rPr>
              <a:t>Parkbnb — 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77784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solidFill>
              <a:srgbClr val="F6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A748F"/>
                </a:solidFill>
                <a:latin typeface="Aptos"/>
              </a:rPr>
              <a:t>WHY NOW ·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9494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0C2A48"/>
                </a:solidFill>
                <a:latin typeface="Georgia"/>
              </a:rPr>
              <a:t>A large and increasingly digital parking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1">
                <a:solidFill>
                  <a:srgbClr val="677784"/>
                </a:solidFill>
                <a:latin typeface="Aptos"/>
              </a:rPr>
              <a:t>The source deck cites third-party India smart-parking estimates; verify figures and source methodology before external circulation.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74519"/>
            <a:ext cx="5166360" cy="1234440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2057400"/>
            <a:ext cx="2103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$4.9B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532887"/>
            <a:ext cx="44805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ptos"/>
              </a:rPr>
              <a:t>India smart parking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788920"/>
            <a:ext cx="44805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E1EBF1"/>
                </a:solidFill>
                <a:latin typeface="Aptos"/>
              </a:rPr>
              <a:t>2025 cited base size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3" y="1874519"/>
            <a:ext cx="5166360" cy="1234440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2057400"/>
            <a:ext cx="2103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$12.7B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532887"/>
            <a:ext cx="44805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ptos"/>
              </a:rPr>
              <a:t>Projected 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2788920"/>
            <a:ext cx="44805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E1EBF1"/>
                </a:solidFill>
                <a:latin typeface="Aptos"/>
              </a:rPr>
              <a:t>2031 cited estimate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355848"/>
            <a:ext cx="5166360" cy="1234440"/>
          </a:xfrm>
          <a:prstGeom prst="roundRect">
            <a:avLst/>
          </a:prstGeom>
          <a:solidFill>
            <a:srgbClr val="EBA939"/>
          </a:solidFill>
          <a:ln>
            <a:solidFill>
              <a:srgbClr val="EBA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3538728"/>
            <a:ext cx="2103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17.6%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014215"/>
            <a:ext cx="44805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ptos"/>
              </a:rPr>
              <a:t>CAGR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270248"/>
            <a:ext cx="44805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E1EBF1"/>
                </a:solidFill>
                <a:latin typeface="Aptos"/>
              </a:rPr>
              <a:t>2025–2031 cited forecast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3" y="3355848"/>
            <a:ext cx="5166360" cy="1234440"/>
          </a:xfrm>
          <a:prstGeom prst="roundRect">
            <a:avLst/>
          </a:prstGeom>
          <a:solidFill>
            <a:srgbClr val="24A058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28816" y="3538728"/>
            <a:ext cx="2103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300M+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4014215"/>
            <a:ext cx="44805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ptos"/>
              </a:rPr>
              <a:t>Registered vehicles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4270248"/>
            <a:ext cx="44805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E1EBF1"/>
                </a:solidFill>
                <a:latin typeface="Aptos"/>
              </a:rPr>
              <a:t>India; source-deck figure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5074920"/>
            <a:ext cx="109728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285232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2A48"/>
                </a:solidFill>
                <a:latin typeface="Georgia"/>
              </a:rPr>
              <a:t>Why Parkbnb can win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212080"/>
            <a:ext cx="85496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77784"/>
                </a:solidFill>
                <a:latin typeface="Aptos"/>
              </a:rPr>
              <a:t>Fragmented private supply + under-managed lots + access hardware + occupancy intelligence create a broader opportunity than a parking-discovery app alone.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080760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1">
                <a:solidFill>
                  <a:srgbClr val="677784"/>
                </a:solidFill>
                <a:latin typeface="Aptos"/>
              </a:rPr>
              <a:t>Source cited in original deck: MobilityForesights, IMARC Group, Astute Analytica. Third-party estimates; independently validate.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2377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77784"/>
                </a:solidFill>
                <a:latin typeface="Aptos"/>
              </a:rPr>
              <a:t>Parkbnb —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77784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solidFill>
              <a:srgbClr val="F6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A748F"/>
                </a:solidFill>
                <a:latin typeface="Aptos"/>
              </a:rPr>
              <a:t>REVENUE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9494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0C2A48"/>
                </a:solidFill>
                <a:latin typeface="Georgia"/>
              </a:rPr>
              <a:t>Multi-layer monetization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1">
                <a:solidFill>
                  <a:srgbClr val="677784"/>
                </a:solidFill>
                <a:latin typeface="Aptos"/>
              </a:rPr>
              <a:t>Marketplace fees create liquidity; SaaS and hardware create recurring revenue around managed supply.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28800"/>
            <a:ext cx="10972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4672" y="2011680"/>
            <a:ext cx="960120" cy="347472"/>
          </a:xfrm>
          <a:prstGeom prst="roundRect">
            <a:avLst/>
          </a:prstGeom>
          <a:solidFill>
            <a:srgbClr val="6C4A9E"/>
          </a:solidFill>
          <a:ln>
            <a:solidFill>
              <a:srgbClr val="6C4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2048256"/>
            <a:ext cx="850392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B2C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8528" y="2029968"/>
            <a:ext cx="182880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0C2A48"/>
                </a:solidFill>
                <a:latin typeface="Aptos"/>
              </a:rPr>
              <a:t>Drivers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8768" y="2029968"/>
            <a:ext cx="297180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77784"/>
                </a:solidFill>
                <a:latin typeface="Aptos"/>
              </a:rPr>
              <a:t>Booking convenience fee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2029968"/>
            <a:ext cx="406908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233443"/>
                </a:solidFill>
                <a:latin typeface="Aptos"/>
              </a:rPr>
              <a:t>₹10–₹25 / booking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2670048"/>
            <a:ext cx="10972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" y="2852928"/>
            <a:ext cx="960120" cy="347472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2889504"/>
            <a:ext cx="850392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B2B2C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38528" y="2871216"/>
            <a:ext cx="182880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0C2A48"/>
                </a:solidFill>
                <a:latin typeface="Aptos"/>
              </a:rPr>
              <a:t>Space owners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2871216"/>
            <a:ext cx="297180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77784"/>
                </a:solidFill>
                <a:latin typeface="Aptos"/>
              </a:rPr>
              <a:t>Marketplace commission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871216"/>
            <a:ext cx="406908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233443"/>
                </a:solidFill>
                <a:latin typeface="Aptos"/>
              </a:rPr>
              <a:t>70% owner / 30% Parkbnb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511296"/>
            <a:ext cx="10972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4672" y="3694176"/>
            <a:ext cx="960120" cy="347472"/>
          </a:xfrm>
          <a:prstGeom prst="roundRect">
            <a:avLst/>
          </a:prstGeom>
          <a:solidFill>
            <a:srgbClr val="2B87A4"/>
          </a:solidFill>
          <a:ln>
            <a:solidFill>
              <a:srgbClr val="2B8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3730752"/>
            <a:ext cx="850392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B2B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38528" y="3712463"/>
            <a:ext cx="182880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0C2A48"/>
                </a:solidFill>
                <a:latin typeface="Aptos"/>
              </a:rPr>
              <a:t>Commercial lots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8768" y="3712463"/>
            <a:ext cx="297180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77784"/>
                </a:solidFill>
                <a:latin typeface="Aptos"/>
              </a:rPr>
              <a:t>CCTV Edge AI + barriers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3712463"/>
            <a:ext cx="406908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233443"/>
                </a:solidFill>
                <a:latin typeface="Aptos"/>
              </a:rPr>
              <a:t>Setup fee + monthly SaaS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4352544"/>
            <a:ext cx="10972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04672" y="4535424"/>
            <a:ext cx="960120" cy="347472"/>
          </a:xfrm>
          <a:prstGeom prst="roundRect">
            <a:avLst/>
          </a:prstGeom>
          <a:solidFill>
            <a:srgbClr val="24A058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9536" y="4572000"/>
            <a:ext cx="850392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B2B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38528" y="4553712"/>
            <a:ext cx="182880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0C2A48"/>
                </a:solidFill>
                <a:latin typeface="Aptos"/>
              </a:rPr>
              <a:t>Developers / plots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58768" y="4553712"/>
            <a:ext cx="297180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77784"/>
                </a:solidFill>
                <a:latin typeface="Aptos"/>
              </a:rPr>
              <a:t>Space Optimizer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553712"/>
            <a:ext cx="406908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233443"/>
                </a:solidFill>
                <a:latin typeface="Aptos"/>
              </a:rPr>
              <a:t>Design fee + setup commission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5193792"/>
            <a:ext cx="10972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04672" y="5376672"/>
            <a:ext cx="960120" cy="347472"/>
          </a:xfrm>
          <a:prstGeom prst="roundRect">
            <a:avLst/>
          </a:prstGeom>
          <a:solidFill>
            <a:srgbClr val="EBA939"/>
          </a:solidFill>
          <a:ln>
            <a:solidFill>
              <a:srgbClr val="EBA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9536" y="5413248"/>
            <a:ext cx="850392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B2G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38528" y="5394959"/>
            <a:ext cx="182880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0C2A48"/>
                </a:solidFill>
                <a:latin typeface="Aptos"/>
              </a:rPr>
              <a:t>Municipalities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58768" y="5394959"/>
            <a:ext cx="297180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77784"/>
                </a:solidFill>
                <a:latin typeface="Aptos"/>
              </a:rPr>
              <a:t>Digital parking networks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5394959"/>
            <a:ext cx="406908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233443"/>
                </a:solidFill>
                <a:latin typeface="Aptos"/>
              </a:rPr>
              <a:t>Long-term infrastructure contracts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" y="6144768"/>
            <a:ext cx="10972800" cy="384048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6236208"/>
            <a:ext cx="105613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Long-term model: high-margin software + marketplace take, layered on installed physical infrastructure.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6510528"/>
            <a:ext cx="2377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77784"/>
                </a:solidFill>
                <a:latin typeface="Aptos"/>
              </a:rPr>
              <a:t>Parkbnb — Confidential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77784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0284C7"/>
                </a:solidFill>
                <a:latin typeface="Aptos"/>
              </a:rPr>
              <a:t>04 — MARKET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43616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0F172A"/>
                </a:solidFill>
                <a:latin typeface="Aptos"/>
              </a:rPr>
              <a:t>Parking has marketplaces, parking hardware and parking software — but they solve different layers.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44752"/>
            <a:ext cx="109728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 dirty="0" err="1">
                <a:solidFill>
                  <a:srgbClr val="475569"/>
                </a:solidFill>
                <a:latin typeface="Aptos"/>
              </a:rPr>
              <a:t>Parkbnb's</a:t>
            </a:r>
            <a:r>
              <a:rPr sz="1250" b="0" dirty="0">
                <a:solidFill>
                  <a:srgbClr val="475569"/>
                </a:solidFill>
                <a:latin typeface="Aptos"/>
              </a:rPr>
              <a:t> opportunity is to connect the layers into one operating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51460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04671" y="2011680"/>
            <a:ext cx="438912" cy="438912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2029968"/>
            <a:ext cx="438912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578608"/>
            <a:ext cx="214884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DISCOVERY / BOOKING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3154680"/>
            <a:ext cx="21488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Find • reserve • pay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" y="3703320"/>
            <a:ext cx="105156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3730752"/>
            <a:ext cx="10515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0284C7"/>
                </a:solidFill>
                <a:latin typeface="Aptos"/>
              </a:rPr>
              <a:t>Marketplace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828800"/>
            <a:ext cx="251460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566160" y="2011680"/>
            <a:ext cx="438912" cy="438912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6160" y="2029968"/>
            <a:ext cx="438912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578608"/>
            <a:ext cx="214884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ACCESS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154680"/>
            <a:ext cx="21488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Barrier • lock • gate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3703320"/>
            <a:ext cx="105156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66160" y="3730752"/>
            <a:ext cx="10515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0D9488"/>
                </a:solidFill>
                <a:latin typeface="Aptos"/>
              </a:rPr>
              <a:t>Hardware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6" y="1828800"/>
            <a:ext cx="251460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327648" y="2011680"/>
            <a:ext cx="438912" cy="438912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27648" y="2029968"/>
            <a:ext cx="438912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578608"/>
            <a:ext cx="214884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PARKING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154680"/>
            <a:ext cx="21488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CCTV • ANPR • occupancy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7648" y="3703320"/>
            <a:ext cx="105156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27648" y="3730752"/>
            <a:ext cx="10515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D97706"/>
                </a:solidFill>
                <a:latin typeface="Aptos"/>
              </a:rPr>
              <a:t>Operations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24544" y="1828800"/>
            <a:ext cx="251460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089136" y="2011680"/>
            <a:ext cx="438912" cy="438912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89136" y="2029968"/>
            <a:ext cx="438912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89136" y="2578608"/>
            <a:ext cx="214884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SPACE CREATION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89136" y="3154680"/>
            <a:ext cx="21488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Plot → optimal layout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89136" y="3703320"/>
            <a:ext cx="105156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89136" y="3730752"/>
            <a:ext cx="10515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16A34A"/>
                </a:solidFill>
                <a:latin typeface="Aptos"/>
              </a:rPr>
              <a:t>Optimization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28800" y="4709160"/>
            <a:ext cx="8503920" cy="822960"/>
          </a:xfrm>
          <a:prstGeom prst="roundRect">
            <a:avLst/>
          </a:prstGeom>
          <a:solidFill>
            <a:srgbClr val="E0F2FE"/>
          </a:solidFill>
          <a:ln w="1016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011680" y="4882896"/>
            <a:ext cx="81381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0284C7"/>
                </a:solidFill>
                <a:latin typeface="Aptos"/>
              </a:rPr>
              <a:t>PARKBNB = CONNECTED OPERATING 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5212080"/>
            <a:ext cx="81381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Aptos"/>
              </a:rPr>
              <a:t>Demand → verified inventory → reservation → access → occupancy → payout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80467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PARKBNB  •  CONFIDENTIAL INVESTOR MATERIAL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281928"/>
            <a:ext cx="105156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20" b="0">
                <a:solidFill>
                  <a:srgbClr val="64748B"/>
                </a:solidFill>
                <a:latin typeface="Aptos"/>
              </a:rPr>
              <a:t>Competitive framing informed by public product descriptions for JustPark, Get My Parking and parking-design platforms; capabilities should be re-validated before external circulation. citeturn0search0turn0search8</a:t>
            </a:r>
          </a:p>
        </p:txBody>
      </p:sp>
    </p:spTree>
    <p:extLst>
      <p:ext uri="{BB962C8B-B14F-4D97-AF65-F5344CB8AC3E}">
        <p14:creationId xmlns:p14="http://schemas.microsoft.com/office/powerpoint/2010/main" val="2996313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solidFill>
              <a:srgbClr val="F6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A748F"/>
                </a:solidFill>
                <a:latin typeface="Aptos"/>
              </a:rPr>
              <a:t>DEFENSIBILITY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9494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0C2A48"/>
                </a:solidFill>
                <a:latin typeface="Georgia"/>
              </a:rPr>
              <a:t>Why the system gets stronger as it scales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1">
                <a:solidFill>
                  <a:srgbClr val="677784"/>
                </a:solidFill>
                <a:latin typeface="Aptos"/>
              </a:rPr>
              <a:t>The moat is not one feature — it is the combination of supply, access, vision and spatial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965960"/>
            <a:ext cx="196596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41832" y="2194560"/>
            <a:ext cx="411480" cy="411480"/>
          </a:xfrm>
          <a:prstGeom prst="roundRect">
            <a:avLst/>
          </a:prstGeom>
          <a:solidFill>
            <a:srgbClr val="24A058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2194560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788920"/>
            <a:ext cx="15087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0C2A48"/>
                </a:solidFill>
                <a:latin typeface="Georgia"/>
              </a:rPr>
              <a:t>PRIVATE SUPPLY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493008"/>
            <a:ext cx="1481328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677784"/>
                </a:solidFill>
                <a:latin typeface="Aptos"/>
              </a:rPr>
              <a:t>More bookable bays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79191" y="3218688"/>
            <a:ext cx="283465" cy="0"/>
          </a:xfrm>
          <a:prstGeom prst="line">
            <a:avLst/>
          </a:prstGeom>
          <a:ln w="19050">
            <a:solidFill>
              <a:srgbClr val="0C2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62656" y="1965960"/>
            <a:ext cx="196596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191256" y="2194560"/>
            <a:ext cx="411480" cy="411480"/>
          </a:xfrm>
          <a:prstGeom prst="roundRect">
            <a:avLst/>
          </a:prstGeom>
          <a:solidFill>
            <a:srgbClr val="EBA939"/>
          </a:solidFill>
          <a:ln>
            <a:solidFill>
              <a:srgbClr val="EBA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91256" y="2194560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1256" y="2788920"/>
            <a:ext cx="15087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0C2A48"/>
                </a:solidFill>
                <a:latin typeface="Georgia"/>
              </a:rPr>
              <a:t>PHYSICAL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91256" y="3493008"/>
            <a:ext cx="1481328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677784"/>
                </a:solidFill>
                <a:latin typeface="Aptos"/>
              </a:rPr>
              <a:t>Locks + barriers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28616" y="3218688"/>
            <a:ext cx="283464" cy="0"/>
          </a:xfrm>
          <a:prstGeom prst="line">
            <a:avLst/>
          </a:prstGeom>
          <a:ln w="19050">
            <a:solidFill>
              <a:srgbClr val="0C2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212080" y="1965960"/>
            <a:ext cx="196596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440680" y="2194560"/>
            <a:ext cx="411480" cy="411480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40680" y="2194560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2788920"/>
            <a:ext cx="15087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0C2A48"/>
                </a:solidFill>
                <a:latin typeface="Georgia"/>
              </a:rPr>
              <a:t>LIVE VISION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3493008"/>
            <a:ext cx="1481328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677784"/>
                </a:solidFill>
                <a:latin typeface="Aptos"/>
              </a:rPr>
              <a:t>Occupancy + ANPR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78040" y="3218688"/>
            <a:ext cx="283464" cy="0"/>
          </a:xfrm>
          <a:prstGeom prst="line">
            <a:avLst/>
          </a:prstGeom>
          <a:ln w="19050">
            <a:solidFill>
              <a:srgbClr val="0C2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61504" y="1965960"/>
            <a:ext cx="196596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690104" y="2194560"/>
            <a:ext cx="411480" cy="411480"/>
          </a:xfrm>
          <a:prstGeom prst="roundRect">
            <a:avLst/>
          </a:prstGeom>
          <a:solidFill>
            <a:srgbClr val="6C4A9E"/>
          </a:solidFill>
          <a:ln>
            <a:solidFill>
              <a:srgbClr val="6C4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90104" y="2194560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0104" y="2788920"/>
            <a:ext cx="15087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0C2A48"/>
                </a:solidFill>
                <a:latin typeface="Georgia"/>
              </a:rPr>
              <a:t>SPATIAL 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0104" y="3493008"/>
            <a:ext cx="1481328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677784"/>
                </a:solidFill>
                <a:latin typeface="Aptos"/>
              </a:rPr>
              <a:t>Layout + constraints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27464" y="3218688"/>
            <a:ext cx="283464" cy="0"/>
          </a:xfrm>
          <a:prstGeom prst="line">
            <a:avLst/>
          </a:prstGeom>
          <a:ln w="19050">
            <a:solidFill>
              <a:srgbClr val="0C2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710928" y="1965960"/>
            <a:ext cx="196596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939528" y="2194560"/>
            <a:ext cx="411480" cy="411480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939528" y="2194560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9528" y="2788920"/>
            <a:ext cx="15087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0C2A48"/>
                </a:solidFill>
                <a:latin typeface="Georgia"/>
              </a:rPr>
              <a:t>NETWORK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9528" y="3493008"/>
            <a:ext cx="1481328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677784"/>
                </a:solidFill>
                <a:latin typeface="Aptos"/>
              </a:rPr>
              <a:t>Demand + utilization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" y="4937760"/>
            <a:ext cx="10835640" cy="804672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50976" y="5138928"/>
            <a:ext cx="12344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EB341"/>
                </a:solidFill>
                <a:latin typeface="Aptos"/>
              </a:rPr>
              <a:t>Moat thesis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04288" y="5102352"/>
            <a:ext cx="87325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Unifying private supply creation + physical access + live occupancy + spatial intelligence on one network.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016752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30" b="0" i="1">
                <a:solidFill>
                  <a:srgbClr val="677784"/>
                </a:solidFill>
                <a:latin typeface="Aptos"/>
              </a:rPr>
              <a:t>Competitive comparisons in the original deck should be independently verified before investor distribution.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6510528"/>
            <a:ext cx="2377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77784"/>
                </a:solidFill>
                <a:latin typeface="Aptos"/>
              </a:rPr>
              <a:t>Parkbnb — Confidential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77784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solidFill>
              <a:srgbClr val="F6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A748F"/>
                </a:solidFill>
                <a:latin typeface="Aptos"/>
              </a:rPr>
              <a:t>TRACTION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9494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0C2A48"/>
                </a:solidFill>
                <a:latin typeface="Georgia"/>
              </a:rPr>
              <a:t>Technology validated — commercial pilot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1">
                <a:solidFill>
                  <a:srgbClr val="677784"/>
                </a:solidFill>
                <a:latin typeface="Aptos"/>
              </a:rPr>
              <a:t>This slide intentionally separates what is built/tested from what still needs market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47088"/>
            <a:ext cx="5230368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59536" y="2029968"/>
            <a:ext cx="411480" cy="411480"/>
          </a:xfrm>
          <a:prstGeom prst="roundRect">
            <a:avLst/>
          </a:prstGeom>
          <a:solidFill>
            <a:srgbClr val="24A058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2029968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975104"/>
            <a:ext cx="1508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4A058"/>
                </a:solidFill>
                <a:latin typeface="Aptos"/>
              </a:rPr>
              <a:t>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203704"/>
            <a:ext cx="40690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19" b="1" i="0">
                <a:solidFill>
                  <a:srgbClr val="0C2A48"/>
                </a:solidFill>
                <a:latin typeface="Aptos"/>
              </a:rPr>
              <a:t>Working prototype built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847088"/>
            <a:ext cx="5230368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83096" y="2029968"/>
            <a:ext cx="411480" cy="411480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83096" y="2029968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8312" y="1975104"/>
            <a:ext cx="1508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A748F"/>
                </a:solidFill>
                <a:latin typeface="Aptos"/>
              </a:rPr>
              <a:t>CCTV 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8312" y="2203704"/>
            <a:ext cx="40690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19" b="1" i="0">
                <a:solidFill>
                  <a:srgbClr val="0C2A48"/>
                </a:solidFill>
                <a:latin typeface="Aptos"/>
              </a:rPr>
              <a:t>Occupancy detection tested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871216"/>
            <a:ext cx="5230368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59536" y="3054096"/>
            <a:ext cx="411480" cy="411480"/>
          </a:xfrm>
          <a:prstGeom prst="roundRect">
            <a:avLst/>
          </a:prstGeom>
          <a:solidFill>
            <a:srgbClr val="EBA939"/>
          </a:solidFill>
          <a:ln>
            <a:solidFill>
              <a:srgbClr val="EBA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" y="3054096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2999232"/>
            <a:ext cx="1508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EBA939"/>
                </a:solidFill>
                <a:latin typeface="Aptos"/>
              </a:rPr>
              <a:t>Hardware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3227832"/>
            <a:ext cx="40690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19" b="1" i="0">
                <a:solidFill>
                  <a:srgbClr val="0C2A48"/>
                </a:solidFill>
                <a:latin typeface="Aptos"/>
              </a:rPr>
              <a:t>Smart-lock prototype built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8" y="2871216"/>
            <a:ext cx="5230368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83096" y="3054096"/>
            <a:ext cx="411480" cy="411480"/>
          </a:xfrm>
          <a:prstGeom prst="roundRect">
            <a:avLst/>
          </a:prstGeom>
          <a:solidFill>
            <a:srgbClr val="24A058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83096" y="3054096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2999232"/>
            <a:ext cx="1508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4A058"/>
                </a:solidFill>
                <a:latin typeface="Aptos"/>
              </a:rPr>
              <a:t>Space optimizer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8312" y="3227832"/>
            <a:ext cx="40690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19" b="1" i="0">
                <a:solidFill>
                  <a:srgbClr val="0C2A48"/>
                </a:solidFill>
                <a:latin typeface="Aptos"/>
              </a:rPr>
              <a:t>Layout algorithm prototype built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895344"/>
            <a:ext cx="5230368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59536" y="4078224"/>
            <a:ext cx="411480" cy="411480"/>
          </a:xfrm>
          <a:prstGeom prst="roundRect">
            <a:avLst/>
          </a:prstGeom>
          <a:solidFill>
            <a:srgbClr val="2B87A4"/>
          </a:solidFill>
          <a:ln>
            <a:solidFill>
              <a:srgbClr val="2B8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9536" y="4078224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4023359"/>
            <a:ext cx="1508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B87A4"/>
                </a:solidFill>
                <a:latin typeface="Aptos"/>
              </a:rPr>
              <a:t>Customer discovery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4752" y="4251959"/>
            <a:ext cx="40690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19" b="1" i="0">
                <a:solidFill>
                  <a:srgbClr val="0C2A48"/>
                </a:solidFill>
                <a:latin typeface="Aptos"/>
              </a:rPr>
              <a:t>Operator / customer discussions in progress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1928" y="3895344"/>
            <a:ext cx="5230368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83096" y="4078224"/>
            <a:ext cx="411480" cy="411480"/>
          </a:xfrm>
          <a:prstGeom prst="roundRect">
            <a:avLst/>
          </a:prstGeom>
          <a:solidFill>
            <a:srgbClr val="6C4A9E"/>
          </a:solidFill>
          <a:ln>
            <a:solidFill>
              <a:srgbClr val="6C4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83096" y="4078224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68312" y="4023359"/>
            <a:ext cx="1508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C4A9E"/>
                </a:solidFill>
                <a:latin typeface="Aptos"/>
              </a:rPr>
              <a:t>Commercial proof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68312" y="4251959"/>
            <a:ext cx="40690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19" b="1" i="0">
                <a:solidFill>
                  <a:srgbClr val="233443"/>
                </a:solidFill>
                <a:latin typeface="Aptos"/>
              </a:rPr>
              <a:t>Paid pilots / LOIs / deployment metrics — next milestone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230368"/>
            <a:ext cx="10853928" cy="685800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6112" y="5413248"/>
            <a:ext cx="1600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EB341"/>
                </a:solidFill>
                <a:latin typeface="Aptos"/>
              </a:rPr>
              <a:t>Next validation gate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15184" y="5376672"/>
            <a:ext cx="85496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19" b="1" i="0">
                <a:solidFill>
                  <a:srgbClr val="FFFFFF"/>
                </a:solidFill>
                <a:latin typeface="Aptos"/>
              </a:rPr>
              <a:t>paid pilot deployments in Indore → measure utilization, detection accuracy, access reliability and repeat bookings.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6153912"/>
            <a:ext cx="10698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30" b="0" i="1">
                <a:solidFill>
                  <a:srgbClr val="677784"/>
                </a:solidFill>
                <a:latin typeface="Aptos"/>
              </a:rPr>
              <a:t>Do not add LOIs, accuracy, sites or revenue here until they are real and documented.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6510528"/>
            <a:ext cx="2377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77784"/>
                </a:solidFill>
                <a:latin typeface="Aptos"/>
              </a:rPr>
              <a:t>Parkbnb — Confidential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77784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solidFill>
              <a:srgbClr val="F6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A748F"/>
                </a:solidFill>
                <a:latin typeface="Aptos"/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9494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0C2A48"/>
                </a:solidFill>
                <a:latin typeface="Georgia"/>
              </a:rPr>
              <a:t>Win dense micro-markets before expanding city-wide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1">
                <a:solidFill>
                  <a:srgbClr val="677784"/>
                </a:solidFill>
                <a:latin typeface="Aptos"/>
              </a:rPr>
              <a:t>The strategy is supply clustering: build enough parking density around a destination to make the network useful.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1097280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4672" y="1956816"/>
            <a:ext cx="438912" cy="438912"/>
          </a:xfrm>
          <a:prstGeom prst="roundRect">
            <a:avLst/>
          </a:prstGeom>
          <a:solidFill>
            <a:srgbClr val="6C4A9E"/>
          </a:solidFill>
          <a:ln>
            <a:solidFill>
              <a:srgbClr val="6C4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956816"/>
            <a:ext cx="438912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29384"/>
            <a:ext cx="10515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C4A9E"/>
                </a:solidFill>
                <a:latin typeface="Aptos"/>
              </a:rPr>
              <a:t>Months 1–6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032" y="1901952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2A48"/>
                </a:solidFill>
                <a:latin typeface="Georgia"/>
              </a:rPr>
              <a:t>DESTINATION NODES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920240"/>
            <a:ext cx="4754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80" b="0" i="0">
                <a:solidFill>
                  <a:srgbClr val="677784"/>
                </a:solidFill>
                <a:latin typeface="Aptos"/>
              </a:rPr>
              <a:t>Acquire 20–30 bays around anchor hubs in Indore.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82912" y="1920240"/>
            <a:ext cx="157276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69" b="1" i="0">
                <a:solidFill>
                  <a:srgbClr val="6C4A9E"/>
                </a:solidFill>
                <a:latin typeface="Aptos"/>
              </a:rPr>
              <a:t>Solve marketplace cold start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2862072"/>
            <a:ext cx="1097280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4672" y="3035808"/>
            <a:ext cx="438912" cy="438912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3035808"/>
            <a:ext cx="438912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008376"/>
            <a:ext cx="10515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1A748F"/>
                </a:solidFill>
                <a:latin typeface="Aptos"/>
              </a:rPr>
              <a:t>Months 6–12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2" y="2980944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2A48"/>
                </a:solidFill>
                <a:latin typeface="Georgia"/>
              </a:rPr>
              <a:t>PRIVATE SUPPLY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99232"/>
            <a:ext cx="4754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80" b="0" i="0">
                <a:solidFill>
                  <a:srgbClr val="677784"/>
                </a:solidFill>
                <a:latin typeface="Aptos"/>
              </a:rPr>
              <a:t>Add driveways and vacant plots with smart access.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82912" y="2999232"/>
            <a:ext cx="157276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69" b="1" i="0">
                <a:solidFill>
                  <a:srgbClr val="1A748F"/>
                </a:solidFill>
                <a:latin typeface="Aptos"/>
              </a:rPr>
              <a:t>Build dense micro-radius supply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3941063"/>
            <a:ext cx="1097280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04672" y="4114800"/>
            <a:ext cx="438912" cy="438912"/>
          </a:xfrm>
          <a:prstGeom prst="roundRect">
            <a:avLst/>
          </a:prstGeom>
          <a:solidFill>
            <a:srgbClr val="2B87A4"/>
          </a:solidFill>
          <a:ln>
            <a:solidFill>
              <a:srgbClr val="2B8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" y="4114800"/>
            <a:ext cx="438912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087368"/>
            <a:ext cx="10515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2B87A4"/>
                </a:solidFill>
                <a:latin typeface="Aptos"/>
              </a:rPr>
              <a:t>Months 12–18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4059935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2A48"/>
                </a:solidFill>
                <a:latin typeface="Georgia"/>
              </a:rPr>
              <a:t>CONSUMER 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078224"/>
            <a:ext cx="4754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80" b="0" i="0">
                <a:solidFill>
                  <a:srgbClr val="677784"/>
                </a:solidFill>
                <a:latin typeface="Aptos"/>
              </a:rPr>
              <a:t>Target corporate staff, shoppers and tourists around live nodes.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2912" y="4078224"/>
            <a:ext cx="157276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69" b="1" i="0">
                <a:solidFill>
                  <a:srgbClr val="2B87A4"/>
                </a:solidFill>
                <a:latin typeface="Aptos"/>
              </a:rPr>
              <a:t>Increase repeat bookings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5020056"/>
            <a:ext cx="1097280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04672" y="5193792"/>
            <a:ext cx="438912" cy="438912"/>
          </a:xfrm>
          <a:prstGeom prst="roundRect">
            <a:avLst/>
          </a:prstGeom>
          <a:solidFill>
            <a:srgbClr val="EBA939"/>
          </a:solidFill>
          <a:ln>
            <a:solidFill>
              <a:srgbClr val="EBA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" y="5193792"/>
            <a:ext cx="438912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166360"/>
            <a:ext cx="10515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BA939"/>
                </a:solidFill>
                <a:latin typeface="Aptos"/>
              </a:rPr>
              <a:t>18+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42032" y="5138928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2A48"/>
                </a:solidFill>
                <a:latin typeface="Georgia"/>
              </a:rPr>
              <a:t>B2G EXPANSION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5157216"/>
            <a:ext cx="4754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80" b="0" i="0">
                <a:solidFill>
                  <a:srgbClr val="677784"/>
                </a:solidFill>
                <a:latin typeface="Aptos"/>
              </a:rPr>
              <a:t>Pursue municipal integrations after pilot economics are proven.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82912" y="5157216"/>
            <a:ext cx="157276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69" b="1" i="0">
                <a:solidFill>
                  <a:srgbClr val="EBA939"/>
                </a:solidFill>
                <a:latin typeface="Aptos"/>
              </a:rPr>
              <a:t>Scale city-wide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6199632"/>
            <a:ext cx="10972800" cy="274320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6227064"/>
            <a:ext cx="105613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19" b="1" i="0">
                <a:solidFill>
                  <a:srgbClr val="FFFFFF"/>
                </a:solidFill>
                <a:latin typeface="Aptos"/>
              </a:rPr>
              <a:t>Principle: density first, city-wide expansion second.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6510528"/>
            <a:ext cx="2377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77784"/>
                </a:solidFill>
                <a:latin typeface="Aptos"/>
              </a:rPr>
              <a:t>Parkbnb — Confidential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77784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solidFill>
              <a:srgbClr val="F6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A748F"/>
                </a:solidFill>
                <a:latin typeface="Aptos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9494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0C2A48"/>
                </a:solidFill>
                <a:latin typeface="Georgia"/>
              </a:rPr>
              <a:t>Seed funding to prove the first repeatable parking clusters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1">
                <a:solidFill>
                  <a:srgbClr val="677784"/>
                </a:solidFill>
                <a:latin typeface="Aptos"/>
              </a:rPr>
              <a:t>₹1.5–₹2.5 Cr for an 18-month execution window.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246120" cy="1874519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029968"/>
            <a:ext cx="14630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EEB341"/>
                </a:solidFill>
                <a:latin typeface="Aptos"/>
              </a:rPr>
              <a:t>SEED 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50592"/>
            <a:ext cx="26517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Georgia"/>
              </a:rPr>
              <a:t>₹1.5–₹2.5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081528"/>
            <a:ext cx="2286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D7E1E8"/>
                </a:solidFill>
                <a:latin typeface="Aptos"/>
              </a:rPr>
              <a:t>18 months runway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783080"/>
            <a:ext cx="182880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A748F"/>
                </a:solidFill>
                <a:latin typeface="Aptos"/>
              </a:rPr>
              <a:t>USE OF FUNDS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2212848"/>
            <a:ext cx="3291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33443"/>
                </a:solidFill>
                <a:latin typeface="Aptos"/>
              </a:rPr>
              <a:t>Product &amp; engineering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249424"/>
            <a:ext cx="2926080" cy="164592"/>
          </a:xfrm>
          <a:prstGeom prst="roundRect">
            <a:avLst/>
          </a:prstGeom>
          <a:solidFill>
            <a:srgbClr val="E0E8EE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726679" y="2249424"/>
            <a:ext cx="2926080" cy="164592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71632" y="2194560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1A748F"/>
                </a:solidFill>
                <a:latin typeface="Aptos"/>
              </a:rP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779776"/>
            <a:ext cx="3291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33443"/>
                </a:solidFill>
                <a:latin typeface="Aptos"/>
              </a:rPr>
              <a:t>Hardware tooling + batch production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816352"/>
            <a:ext cx="2926080" cy="164592"/>
          </a:xfrm>
          <a:prstGeom prst="roundRect">
            <a:avLst/>
          </a:prstGeom>
          <a:solidFill>
            <a:srgbClr val="E0E8EE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726679" y="2816352"/>
            <a:ext cx="1828800" cy="164592"/>
          </a:xfrm>
          <a:prstGeom prst="roundRect">
            <a:avLst/>
          </a:prstGeom>
          <a:solidFill>
            <a:srgbClr val="EBA939"/>
          </a:solidFill>
          <a:ln>
            <a:solidFill>
              <a:srgbClr val="EBA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71632" y="2761488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EBA939"/>
                </a:solidFill>
                <a:latin typeface="Aptos"/>
              </a:rPr>
              <a:t>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3346704"/>
            <a:ext cx="3291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33443"/>
                </a:solidFill>
                <a:latin typeface="Aptos"/>
              </a:rPr>
              <a:t>Pilot deployment + cluster setup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3383280"/>
            <a:ext cx="2926080" cy="164592"/>
          </a:xfrm>
          <a:prstGeom prst="roundRect">
            <a:avLst/>
          </a:prstGeom>
          <a:solidFill>
            <a:srgbClr val="E0E8EE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726679" y="3383280"/>
            <a:ext cx="1463040" cy="164592"/>
          </a:xfrm>
          <a:prstGeom prst="roundRect">
            <a:avLst/>
          </a:prstGeom>
          <a:solidFill>
            <a:srgbClr val="24A058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71632" y="3328416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24A058"/>
                </a:solidFill>
                <a:latin typeface="Aptos"/>
              </a:rPr>
              <a:t>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5968" y="3913632"/>
            <a:ext cx="3291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33443"/>
                </a:solidFill>
                <a:latin typeface="Aptos"/>
              </a:rPr>
              <a:t>BD + operator partnerships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6679" y="3950208"/>
            <a:ext cx="2926080" cy="164592"/>
          </a:xfrm>
          <a:prstGeom prst="roundRect">
            <a:avLst/>
          </a:prstGeom>
          <a:solidFill>
            <a:srgbClr val="E0E8EE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726679" y="3950208"/>
            <a:ext cx="731520" cy="164592"/>
          </a:xfrm>
          <a:prstGeom prst="roundRect">
            <a:avLst/>
          </a:prstGeom>
          <a:solidFill>
            <a:srgbClr val="2B87A4"/>
          </a:solidFill>
          <a:ln>
            <a:solidFill>
              <a:srgbClr val="2B8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771632" y="389534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2B87A4"/>
                </a:solidFill>
                <a:latin typeface="Aptos"/>
              </a:rPr>
              <a:t>10%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4480560"/>
            <a:ext cx="3291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33443"/>
                </a:solidFill>
                <a:latin typeface="Aptos"/>
              </a:rPr>
              <a:t>Ops, legal + IP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79" y="4517136"/>
            <a:ext cx="2926080" cy="164592"/>
          </a:xfrm>
          <a:prstGeom prst="roundRect">
            <a:avLst/>
          </a:prstGeom>
          <a:solidFill>
            <a:srgbClr val="E0E8EE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726679" y="4517136"/>
            <a:ext cx="365760" cy="164592"/>
          </a:xfrm>
          <a:prstGeom prst="roundRect">
            <a:avLst/>
          </a:prstGeom>
          <a:solidFill>
            <a:srgbClr val="6C4A9E"/>
          </a:solidFill>
          <a:ln>
            <a:solidFill>
              <a:srgbClr val="6C4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771632" y="4462272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6C4A9E"/>
                </a:solidFill>
                <a:latin typeface="Aptos"/>
              </a:rPr>
              <a:t>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069080"/>
            <a:ext cx="1092708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4315968"/>
            <a:ext cx="292608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C2A48"/>
                </a:solidFill>
                <a:latin typeface="Aptos"/>
              </a:rPr>
              <a:t>18-MONTH VALIDATION TARGETS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4709160"/>
            <a:ext cx="4709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677784"/>
                </a:solidFill>
                <a:latin typeface="Aptos"/>
              </a:rPr>
              <a:t>• 50+ sites / 1,500 slots installed in Indore clusters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9048" y="4709160"/>
            <a:ext cx="4709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677784"/>
                </a:solidFill>
                <a:latin typeface="Aptos"/>
              </a:rPr>
              <a:t>• Hardware batching + field testing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5120640"/>
            <a:ext cx="4709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677784"/>
                </a:solidFill>
                <a:latin typeface="Aptos"/>
              </a:rPr>
              <a:t>• Recurring marketplace + B2B SaaS revenue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9048" y="5120640"/>
            <a:ext cx="4709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677784"/>
                </a:solidFill>
                <a:latin typeface="Aptos"/>
              </a:rPr>
              <a:t>• 1 municipal trial pursued after pilot proof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870448"/>
            <a:ext cx="10927080" cy="502920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8680" y="6007608"/>
            <a:ext cx="1046988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69" b="1" i="0">
                <a:solidFill>
                  <a:srgbClr val="FFFFFF"/>
                </a:solidFill>
                <a:latin typeface="Aptos"/>
              </a:rPr>
              <a:t>Funding objective: prove repeatable unit economics, supply density and operational reliability — then scale.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6510528"/>
            <a:ext cx="2377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77784"/>
                </a:solidFill>
                <a:latin typeface="Aptos"/>
              </a:rPr>
              <a:t>Parkbnb — Confidential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77784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36576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Georgia"/>
              </a:rPr>
              <a:t>PARKBNB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33472"/>
            <a:ext cx="71323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Connecting fragmented parking capacity into one intelligent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3438144"/>
            <a:ext cx="6035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EB341"/>
                </a:solidFill>
                <a:latin typeface="Aptos"/>
              </a:rPr>
              <a:t>Find. Protect. Specialize. Manage. Monetize.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59536" y="4315968"/>
            <a:ext cx="3575304" cy="0"/>
          </a:xfrm>
          <a:prstGeom prst="line">
            <a:avLst/>
          </a:prstGeom>
          <a:ln w="12700">
            <a:solidFill>
              <a:srgbClr val="4E7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9536" y="4645152"/>
            <a:ext cx="18288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EEB341"/>
                </a:solidFill>
                <a:latin typeface="Aptos"/>
              </a:rPr>
              <a:t>CONTACT FOUNDERS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4956048"/>
            <a:ext cx="3017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contact@parkbnb.in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5413248"/>
            <a:ext cx="16459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EEB341"/>
                </a:solidFill>
                <a:latin typeface="Aptos"/>
              </a:rPr>
              <a:t>HEADQUARTERS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5724144"/>
            <a:ext cx="29260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Indore, MP, India</a:t>
            </a:r>
          </a:p>
        </p:txBody>
      </p:sp>
      <p:pic>
        <p:nvPicPr>
          <p:cNvPr id="11" name="Picture 10" descr="slide1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417320"/>
            <a:ext cx="3383280" cy="3383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09560" y="5166360"/>
            <a:ext cx="31089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D2E0E9"/>
                </a:solidFill>
                <a:latin typeface="Aptos"/>
              </a:rPr>
              <a:t>Seed Investment Round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510528"/>
            <a:ext cx="2377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BECCD6"/>
                </a:solidFill>
                <a:latin typeface="Aptos"/>
              </a:rPr>
              <a:t>Parkbnb —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BECCD6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1837</Words>
  <Application>Microsoft Office PowerPoint</Application>
  <PresentationFormat>Widescreen</PresentationFormat>
  <Paragraphs>382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5</cp:revision>
  <dcterms:created xsi:type="dcterms:W3CDTF">2013-01-27T09:14:16Z</dcterms:created>
  <dcterms:modified xsi:type="dcterms:W3CDTF">2026-08-14T09:24:59Z</dcterms:modified>
  <cp:category/>
</cp:coreProperties>
</file>