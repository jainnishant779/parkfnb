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6583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284C7"/>
                </a:solidFill>
                <a:latin typeface="Aptos"/>
              </a:rPr>
              <a:t>SMART PARKING INFRASTRUCTURE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67512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800" b="1">
                <a:solidFill>
                  <a:srgbClr val="0F172A"/>
                </a:solidFill>
                <a:latin typeface="Aptos"/>
              </a:rPr>
              <a:t>PARKBNB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649224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475569"/>
                </a:solidFill>
                <a:latin typeface="Aptos"/>
              </a:rPr>
              <a:t>Find parking when you need it.
Activate space when you have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615116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 trusted layer connecting parking demand, fragmented supply, access control, CCTV intelligence and new-space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87952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FIND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4160520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4187952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160520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4187952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SECURE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4160520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69080" y="4187952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MANAGE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160520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4187952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OPTIMIZE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96012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16128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6488" y="1490472"/>
            <a:ext cx="347472" cy="16459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66760" y="228600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48716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61188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81304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76488" y="4142232"/>
            <a:ext cx="347472" cy="16459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79992" y="96012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79992" y="116128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9992" y="228600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9992" y="248716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19" y="2816352"/>
            <a:ext cx="347472" cy="16459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079992" y="361188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9992" y="381304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93224" y="96012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93224" y="116128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02952" y="1490472"/>
            <a:ext cx="347472" cy="16459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93224" y="228600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93224" y="248716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93224" y="361188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93224" y="381304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02952" y="4142232"/>
            <a:ext cx="347472" cy="16459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506456" y="96012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06456" y="116128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06456" y="228600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06456" y="248716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16184" y="2816352"/>
            <a:ext cx="347472" cy="16459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506456" y="3611880"/>
            <a:ext cx="5669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06456" y="3813048"/>
            <a:ext cx="56692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</a:t>
            </a:r>
          </a:p>
        </p:txBody>
      </p:sp>
      <p:sp>
        <p:nvSpPr>
          <p:cNvPr id="47" name="Oval 46"/>
          <p:cNvSpPr/>
          <p:nvPr/>
        </p:nvSpPr>
        <p:spPr>
          <a:xfrm>
            <a:off x="9281160" y="5166360"/>
            <a:ext cx="1097280" cy="10972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81160" y="5184648"/>
            <a:ext cx="1097280" cy="10607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6355080"/>
            <a:ext cx="3291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Aptos"/>
              </a:rPr>
              <a:t>Seed / Early Pilot Deck •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PARKING IS NOT ONE PROBLEM. IT IS A BROKEN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Demand exists. Space exists. Infrastructure exists. What is missing is the digital layer connecting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88036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1" y="1947672"/>
            <a:ext cx="438912" cy="310896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75103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9476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0008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  <a:latin typeface="Aptos"/>
              </a:rPr>
              <a:t>Drivers can't reliably find parking before reaching the destination.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9718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Market • Office • Temple • Tourist • Hospital • Commercial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83080"/>
            <a:ext cx="288036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23359" y="1947672"/>
            <a:ext cx="438912" cy="310896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59" y="1975103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PROTECT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2350008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  <a:latin typeface="Aptos"/>
              </a:rPr>
              <a:t>Private parking can be occupied by unauthorized vehicles.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29718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Driveways • Reserved bays • Private spaces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7456" y="1783080"/>
            <a:ext cx="288036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42048" y="1947672"/>
            <a:ext cx="438912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42048" y="1975103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9476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SPECIALIZE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350008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  <a:latin typeface="Aptos"/>
              </a:rPr>
              <a:t>Buses &amp; fleets need larger, purpose-specific parking.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9718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School buses • Corporate buses • Tourist buses • Commercial fleets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9424" y="3822191"/>
            <a:ext cx="288036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14016" y="3986783"/>
            <a:ext cx="438912" cy="310896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14016" y="4014215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2656" y="3986783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4016" y="4389120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  <a:latin typeface="Aptos"/>
              </a:rPr>
              <a:t>Existing commercial parking can be under-managed and under-utilized.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14016" y="501091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Malls • Offices • Societies • Parking operators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68112" y="3822191"/>
            <a:ext cx="288036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632704" y="3986783"/>
            <a:ext cx="438912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32704" y="4014215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3986783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MONETIZE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2704" y="4389120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75569"/>
                </a:solidFill>
                <a:latin typeface="Aptos"/>
              </a:rPr>
              <a:t>Owners need a simple way to rent idle parking capacity.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2704" y="501091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List • Booking • Payment • Access • Security • Payout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97880"/>
            <a:ext cx="10881360" cy="4114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98017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THE MISSING LAYER  →  FIND • RESERVE • CONTROL • MANAGE • MONETIZE • OPTIMIZE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02 —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Five everyday parking journeys. One missing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The same problem appears at offices, markets, temples, tourist destinations and transport hubs.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3246120"/>
          </a:xfrm>
          <a:prstGeom prst="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Corporate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predictable parking near office, often at a fixed arrival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1828800"/>
            <a:ext cx="64008" cy="324612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Staff / Corporate 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331720"/>
            <a:ext cx="1700784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safe, legal short-duration waiting / pickup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8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81528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TRANSIT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57216" y="1828800"/>
            <a:ext cx="64008" cy="324612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58384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Shopper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Reaches a market or high street and only then discovers whether parking is available.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0096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5783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15783" y="1828800"/>
            <a:ext cx="64008" cy="3246120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6952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Tourist / Pilgrim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Travels to a temple or attraction with uncertain nearby parking and peak-time demand.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98663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98663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VISIT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74352" y="1828800"/>
            <a:ext cx="64008" cy="3246120"/>
          </a:xfrm>
          <a:prstGeom prst="rect">
            <a:avLst/>
          </a:prstGeom>
          <a:solidFill>
            <a:srgbClr val="E11D48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0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Commercial / Fleet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331720"/>
            <a:ext cx="16459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short-duration loading, service or fleet parking near a destination.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57232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57232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FLEET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413248"/>
            <a:ext cx="10881360" cy="576072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550408"/>
            <a:ext cx="10424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0284C7"/>
                </a:solidFill>
                <a:latin typeface="Aptos"/>
              </a:rPr>
              <a:t>Common demand signal: “I am going to X — show me a trusted place to park there, for my time window.”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02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ONE PARKING NETWORK — FROM FINDING A SPACE TO MANAGING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Parkbnb connects drivers, space owners and parking operators through one digital + physical infrastructure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212848"/>
            <a:ext cx="3337560" cy="105156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24323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PARKBNB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7432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Aptos"/>
              </a:rPr>
              <a:t>App • Dashboard • Payments •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0704" y="1920240"/>
            <a:ext cx="438912" cy="310896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194767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0240"/>
            <a:ext cx="2404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FIND &amp; 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304288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284C7"/>
                </a:solidFill>
                <a:latin typeface="Aptos"/>
              </a:rPr>
              <a:t>Destination-based app + parking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679191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Drivers find nearest / destination parking and reserve before arrival.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78308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04504" y="1920240"/>
            <a:ext cx="438912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04504" y="194767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404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CONNECT OWNERS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04288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Owner listing + availability + payouts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2679191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Private spaces, driveways, plots and commercial inventory become bookable.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0332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60704" y="3840480"/>
            <a:ext cx="438912" cy="310896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" y="386791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840480"/>
            <a:ext cx="2404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CONTROL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224528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Aptos"/>
              </a:rPr>
              <a:t>Parkbnb hardware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599431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Smart lock / barrier / QR / BLE / ANPR-based access for controlled entry.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370332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04504" y="3840480"/>
            <a:ext cx="438912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04504" y="386791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840480"/>
            <a:ext cx="2404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PARKING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4504" y="4224528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Aptos"/>
              </a:rPr>
              <a:t>ANPR + position + video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4504" y="4599431"/>
            <a:ext cx="2953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Vehicle identity, slot position, occupancy, wrong parking and overstay.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709160"/>
            <a:ext cx="33375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81144" y="4846320"/>
            <a:ext cx="438912" cy="310896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1144" y="487375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46320"/>
            <a:ext cx="2496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OPTIMIZE 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523036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284C7"/>
                </a:solidFill>
                <a:latin typeface="Aptos"/>
              </a:rPr>
              <a:t>Geometry / layout engine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60520" y="2542032"/>
            <a:ext cx="274320" cy="109728"/>
          </a:xfrm>
          <a:prstGeom prst="line">
            <a:avLst/>
          </a:prstGeom>
          <a:ln w="1778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542032"/>
            <a:ext cx="685800" cy="0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160520" y="3246120"/>
            <a:ext cx="274320" cy="822960"/>
          </a:xfrm>
          <a:prstGeom prst="line">
            <a:avLst/>
          </a:prstGeom>
          <a:ln w="1778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72400" y="4069080"/>
            <a:ext cx="685800" cy="0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08192" y="3264408"/>
            <a:ext cx="0" cy="1444752"/>
          </a:xfrm>
          <a:prstGeom prst="line">
            <a:avLst/>
          </a:prstGeom>
          <a:ln w="1778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03 — PRODUCT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THE SAME PLATFORM SERVES DIFFERENT PARKING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Different spaces need different levels of access control and intelligence — the software layer stays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84248"/>
            <a:ext cx="1417320" cy="310896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7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HOUSEHOLD / SINGLE BAY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5681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List idle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568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Smart lock / ParkoBot-type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56816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284C7"/>
                </a:solidFill>
                <a:latin typeface="Aptos"/>
              </a:rPr>
              <a:t>Owner payout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24328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825496"/>
            <a:ext cx="141732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PRIVATE PLOT / SMALL 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9806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List multiple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980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Barrier + QR / 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98064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Aptos"/>
              </a:rPr>
              <a:t>Bookings + occupancy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65576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3666744"/>
            <a:ext cx="1417320" cy="310896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69417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MALL / OFFICE / SOCIETY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6393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Manage existing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6393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Existing barrier + ANPR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63931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97706"/>
                </a:solidFill>
                <a:latin typeface="Aptos"/>
              </a:rPr>
              <a:t>CCTV +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06824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507992"/>
            <a:ext cx="1417320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3542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BUS / FLEET PARKING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4805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Reserve large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Controlled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48056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Aptos"/>
              </a:rPr>
              <a:t>Time-window + vehicle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48072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" y="5349240"/>
            <a:ext cx="1417320" cy="310896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NEW PARKING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3218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Create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321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Geometry optimizer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532180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11D48"/>
                </a:solidFill>
                <a:latin typeface="Aptos"/>
              </a:rPr>
              <a:t>Slot layout + circulation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6144768"/>
            <a:ext cx="8503920" cy="3200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0" y="6199632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APP + ACCESS + AI + OPTIMIZATION = ONE CONNECTED PARKING OPERATING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04 —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43616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Parking has marketplaces, parking hardware and parking software — but they solve different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 err="1">
                <a:solidFill>
                  <a:srgbClr val="475569"/>
                </a:solidFill>
                <a:latin typeface="Aptos"/>
              </a:rPr>
              <a:t>Parkbnb's</a:t>
            </a:r>
            <a:r>
              <a:rPr sz="1250" b="0" dirty="0">
                <a:solidFill>
                  <a:srgbClr val="475569"/>
                </a:solidFill>
                <a:latin typeface="Aptos"/>
              </a:rPr>
              <a:t> opportunity is to connect the layers into one operating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1" y="2011680"/>
            <a:ext cx="438912" cy="43891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DISCOVERY /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Find • reserve •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011680"/>
            <a:ext cx="438912" cy="43891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Barrier • lock •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2011680"/>
            <a:ext cx="438912" cy="43891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PARKING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CCTV • ANPR • occupancy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89136" y="2011680"/>
            <a:ext cx="438912" cy="43891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9136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SPACE CREATION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Plot → optimal layout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89136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Optimization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709160"/>
            <a:ext cx="8503920" cy="82296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4882896"/>
            <a:ext cx="8138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PARKBNB = CONNECTED OPERATING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212080"/>
            <a:ext cx="81381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Demand → verified inventory → reservation → access → occupancy → payout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Competitive framing informed by public product descriptions for JustPark, Get My Parking and parking-design platforms; capabilities should be re-validated before external circulation. citeturn0search0turn0search8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05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One network for the full parking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7899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Start with the parking trip. Extend into access, management, monetization and creation of new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24688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64207"/>
            <a:ext cx="2194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284C7"/>
                </a:solidFill>
                <a:latin typeface="Aptos"/>
              </a:rPr>
              <a:t>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Destination-based parking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88358" y="2450592"/>
            <a:ext cx="3710690" cy="566928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32520" y="1554480"/>
            <a:ext cx="24688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1664207"/>
            <a:ext cx="2194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947672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Time-bound reservation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230368" y="2002536"/>
            <a:ext cx="4736592" cy="1014984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886200"/>
            <a:ext cx="24688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995928"/>
            <a:ext cx="2194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 dirty="0">
                <a:solidFill>
                  <a:srgbClr val="D97706"/>
                </a:solidFill>
                <a:latin typeface="Aptos"/>
              </a:rP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79392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Smart lock / barrier / ANPR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383280" y="3017520"/>
            <a:ext cx="2715768" cy="1179576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3886200"/>
            <a:ext cx="24688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995928"/>
            <a:ext cx="2194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279392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CCTV occupancy + rules</a:t>
            </a:r>
          </a:p>
        </p:txBody>
      </p:sp>
      <p:cxnSp>
        <p:nvCxnSpPr>
          <p:cNvPr id="22" name="Connector 21"/>
          <p:cNvCxnSpPr>
            <a:stCxn id="19" idx="0"/>
          </p:cNvCxnSpPr>
          <p:nvPr/>
        </p:nvCxnSpPr>
        <p:spPr>
          <a:xfrm flipH="1" flipV="1">
            <a:off x="5230368" y="3017520"/>
            <a:ext cx="4736592" cy="868680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0" y="5166360"/>
            <a:ext cx="24688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80360" y="5276088"/>
            <a:ext cx="2194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284C7"/>
                </a:solidFill>
                <a:latin typeface="Aptos"/>
              </a:rPr>
              <a:t>MONETIZE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559552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Owner payouts + pricing</a:t>
            </a:r>
          </a:p>
        </p:txBody>
      </p:sp>
      <p:cxnSp>
        <p:nvCxnSpPr>
          <p:cNvPr id="26" name="Connector 25"/>
          <p:cNvCxnSpPr>
            <a:stCxn id="23" idx="0"/>
          </p:cNvCxnSpPr>
          <p:nvPr/>
        </p:nvCxnSpPr>
        <p:spPr>
          <a:xfrm flipV="1">
            <a:off x="3977640" y="3017520"/>
            <a:ext cx="2121408" cy="214884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29400" y="5166360"/>
            <a:ext cx="24688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5276088"/>
            <a:ext cx="2194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OPTIMIZE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559552"/>
            <a:ext cx="2194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New parking layout</a:t>
            </a:r>
          </a:p>
        </p:txBody>
      </p:sp>
      <p:cxnSp>
        <p:nvCxnSpPr>
          <p:cNvPr id="30" name="Connector 29"/>
          <p:cNvCxnSpPr>
            <a:stCxn id="27" idx="0"/>
          </p:cNvCxnSpPr>
          <p:nvPr/>
        </p:nvCxnSpPr>
        <p:spPr>
          <a:xfrm flipH="1" flipV="1">
            <a:off x="5230368" y="3017520"/>
            <a:ext cx="2633472" cy="214884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5" name="Oval 4"/>
          <p:cNvSpPr/>
          <p:nvPr/>
        </p:nvSpPr>
        <p:spPr>
          <a:xfrm>
            <a:off x="5230368" y="2148840"/>
            <a:ext cx="1737360" cy="1737360"/>
          </a:xfrm>
          <a:prstGeom prst="ellips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44084" y="2121408"/>
            <a:ext cx="1737360" cy="1700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PARK
BNB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06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Driver journey: from destination search to trusted entry.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The product promise is not just discovery — it is a predictable parking outcome.</a:t>
            </a:r>
          </a:p>
        </p:txBody>
      </p:sp>
      <p:sp>
        <p:nvSpPr>
          <p:cNvPr id="5" name="Oval 4"/>
          <p:cNvSpPr/>
          <p:nvPr/>
        </p:nvSpPr>
        <p:spPr>
          <a:xfrm>
            <a:off x="1216152" y="1828800"/>
            <a:ext cx="502920" cy="50292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16152" y="1847088"/>
            <a:ext cx="50292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87168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87451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Choose destination + 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084831"/>
            <a:ext cx="457199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154680" y="1828800"/>
            <a:ext cx="502920" cy="50292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847088"/>
            <a:ext cx="50292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487168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880360"/>
            <a:ext cx="187451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Price • distance • access • trust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58768" y="2084831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93208" y="1828800"/>
            <a:ext cx="502920" cy="50292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93208" y="1847088"/>
            <a:ext cx="50292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487168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880360"/>
            <a:ext cx="187451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Slot/time window locked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97296" y="2084831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031736" y="1828800"/>
            <a:ext cx="502920" cy="50292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31736" y="1847088"/>
            <a:ext cx="50292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487168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NAVIGATE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880360"/>
            <a:ext cx="187451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Turn-by-turn to the actual space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35824" y="2084831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970264" y="1828800"/>
            <a:ext cx="502920" cy="50292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0264" y="1847088"/>
            <a:ext cx="50292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487168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2880360"/>
            <a:ext cx="187451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QR / BLE / ANPR / barrier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74352" y="2084831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908792" y="1828800"/>
            <a:ext cx="502920" cy="50292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08792" y="1847088"/>
            <a:ext cx="50292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487168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880360"/>
            <a:ext cx="187451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Occupancy verified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77639"/>
            <a:ext cx="10652760" cy="114300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224528"/>
            <a:ext cx="100584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93C5FD"/>
                </a:solidFill>
                <a:latin typeface="Aptos"/>
              </a:rPr>
              <a:t>PROMISE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553712"/>
            <a:ext cx="100584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“I can see it. I can reserve it. I can enter it.”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07 — SUPPLY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Owners choose: use the space themselves, or monetize its idle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Parkbnb handles listing, booking, access, payment and operational controls. The 70/30 split is a pilot hypothesis to validate.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2057400"/>
          </a:xfrm>
          <a:prstGeom prst="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15819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1581912" cy="14356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Owns bay / driveway / plot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5184" y="2816352"/>
            <a:ext cx="237744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828800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828800"/>
            <a:ext cx="64008" cy="205740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1975104"/>
            <a:ext cx="15819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SET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331720"/>
            <a:ext cx="159105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Availability • price • vehicle rules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2816352"/>
            <a:ext cx="237744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828800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0" y="1828800"/>
            <a:ext cx="64008" cy="205740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1975104"/>
            <a:ext cx="15819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331720"/>
            <a:ext cx="158191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Driver reserves a time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5744" y="2816352"/>
            <a:ext cx="237744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60920" y="1828800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60920" y="1828800"/>
            <a:ext cx="64008" cy="2057400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62088" y="1975104"/>
            <a:ext cx="15819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331720"/>
            <a:ext cx="133625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System grants only valid access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36024" y="2816352"/>
            <a:ext cx="237744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0" y="1828800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01200" y="1828800"/>
            <a:ext cx="64008" cy="2057400"/>
          </a:xfrm>
          <a:prstGeom prst="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02368" y="1975104"/>
            <a:ext cx="15819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PAYOUT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2331720"/>
            <a:ext cx="1581912" cy="14356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Owner receives agreed 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43400"/>
            <a:ext cx="10149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4535424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284C7"/>
                </a:solidFill>
                <a:latin typeface="Aptos"/>
              </a:rPr>
              <a:t>PILOT REVENUE 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828032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70%  OWNER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599432"/>
            <a:ext cx="5989320" cy="384048"/>
          </a:xfrm>
          <a:prstGeom prst="round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72000" y="4599432"/>
            <a:ext cx="4192524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4672584"/>
            <a:ext cx="41879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OWNER 70%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64524" y="4599432"/>
            <a:ext cx="1796796" cy="384048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64524" y="4672584"/>
            <a:ext cx="1792224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PARKBNB 30%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102352"/>
            <a:ext cx="5989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Illustrative pilot hypothesis — final take rate depends on segment, access cost and local pricing.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Business-model percentages are proposed assumptions, not validated historical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08 —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Different parking assets need different control — not one expensive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Household spaces, private lots and large commercial facilities have different access, security and throughput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896112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HOUSEHOLD / SINGLE BAY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938528"/>
            <a:ext cx="2926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ParkoBot / smart bay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38528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App • BLE •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07208"/>
            <a:ext cx="10881360" cy="89611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626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SMALL PRIVATE 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62656"/>
            <a:ext cx="2926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Barrier +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962656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QR • BLE • remote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31336"/>
            <a:ext cx="10881360" cy="896112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986784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Aptos"/>
              </a:rPr>
              <a:t>MALL /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86784"/>
            <a:ext cx="2926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Existing barrier + ANPR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86784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Plate • reservation • whitelist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55464"/>
            <a:ext cx="10881360" cy="896112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010912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PUBLIC / B2G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010912"/>
            <a:ext cx="2926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Operator barrier +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010912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ANPR • rules •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897880"/>
            <a:ext cx="8321040" cy="384048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0" y="5971032"/>
            <a:ext cx="83210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RIGHT-SIZED HARDWARE + SOFTWARE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09 — PARKING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Use the CCTV you already have — turn video into parking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Low-compute edge vision can associate vehicles with predefined slots and trigger ANPR or access workflows only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4663440" cy="388620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206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EXISTING CCTV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60320"/>
            <a:ext cx="1005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1005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Aptos"/>
              </a:rPr>
              <a:t>VACANT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560320"/>
            <a:ext cx="1005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50592" y="2834639"/>
            <a:ext cx="676656" cy="274320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3127248"/>
            <a:ext cx="1005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00" b="1">
                <a:solidFill>
                  <a:srgbClr val="0284C7"/>
                </a:solidFill>
                <a:latin typeface="Aptos"/>
              </a:rPr>
              <a:t>OCCUPIED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560320"/>
            <a:ext cx="1005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2880360"/>
            <a:ext cx="1005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Aptos"/>
              </a:rPr>
              <a:t>VACANT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794760"/>
            <a:ext cx="1005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1005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Aptos"/>
              </a:rPr>
              <a:t>VACANT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794760"/>
            <a:ext cx="1005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0" y="4114800"/>
            <a:ext cx="1005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Aptos"/>
              </a:rPr>
              <a:t>VACANT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794760"/>
            <a:ext cx="1005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85032" y="4069080"/>
            <a:ext cx="676656" cy="274320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4361688"/>
            <a:ext cx="1005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00" b="1">
                <a:solidFill>
                  <a:srgbClr val="0284C7"/>
                </a:solidFill>
                <a:latin typeface="Aptos"/>
              </a:rPr>
              <a:t>OCCUPIED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66360"/>
            <a:ext cx="38404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Aptos"/>
              </a:rPr>
              <a:t>Slot state = vehicle detection + geometry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783080"/>
            <a:ext cx="2606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0" y="1783080"/>
            <a:ext cx="64008" cy="1143000"/>
          </a:xfrm>
          <a:prstGeom prst="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0448" y="1929384"/>
            <a:ext cx="22219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OCCUPANCY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286000"/>
            <a:ext cx="2221992" cy="5212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Vehicle ↔ slot association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1783080"/>
            <a:ext cx="2606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03920" y="1783080"/>
            <a:ext cx="64008" cy="114300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1929384"/>
            <a:ext cx="22219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ANPR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286000"/>
            <a:ext cx="2221992" cy="5212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Plate verification when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108960"/>
            <a:ext cx="2606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08960"/>
            <a:ext cx="64008" cy="114300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0448" y="3255264"/>
            <a:ext cx="22219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ALIGNMENT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611880"/>
            <a:ext cx="2221992" cy="5212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Wrong-position / obstruction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3108960"/>
            <a:ext cx="2606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03920" y="3108960"/>
            <a:ext cx="64008" cy="1143000"/>
          </a:xfrm>
          <a:prstGeom prst="rect">
            <a:avLst/>
          </a:prstGeom>
          <a:solidFill>
            <a:srgbClr val="E11D48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05088" y="3255264"/>
            <a:ext cx="22219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OVERSTAY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611880"/>
            <a:ext cx="2221992" cy="52120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Reservation vs actual presence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4617720"/>
            <a:ext cx="54406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97880" y="4828032"/>
            <a:ext cx="4983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LOW-COMPUTE PRINCIPLE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5120640"/>
            <a:ext cx="48920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Detect what matters → map to known geometry → update slot state.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ANPR is an established parking-access pattern; Get My Parking describes ANPR for authorized entry/exit and parking records. citeturn0search8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10 — SPACE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480059"/>
            <a:ext cx="1103680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When a new parking site is created, the first question is: how many spaces can the land actually support?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380743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475569"/>
                </a:solidFill>
                <a:latin typeface="Aptos"/>
              </a:rPr>
              <a:t>The geometry engine converts a site boundary into a constrained parking layout — separate from the CCTV management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572000" cy="3977639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Aptos"/>
              </a:rPr>
              <a:t>RAW SITE BOUNDARY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143000" y="2331720"/>
            <a:ext cx="3383280" cy="22860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26280" y="2331720"/>
            <a:ext cx="274320" cy="288036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17320" y="5212080"/>
            <a:ext cx="3383280" cy="18288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1143000" y="2560320"/>
            <a:ext cx="274320" cy="283464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15000" y="1783080"/>
            <a:ext cx="5212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ENGINEERING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2212848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2231136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203704"/>
            <a:ext cx="114300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03704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Site polygon + obstacles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2852928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2871216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843784"/>
            <a:ext cx="114300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43784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Stall size • aisle • angle</a:t>
            </a:r>
          </a:p>
        </p:txBody>
      </p:sp>
      <p:sp>
        <p:nvSpPr>
          <p:cNvPr id="20" name="Oval 19"/>
          <p:cNvSpPr/>
          <p:nvPr/>
        </p:nvSpPr>
        <p:spPr>
          <a:xfrm>
            <a:off x="5715000" y="3493008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3511296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3483864"/>
            <a:ext cx="114300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483864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Sweep / strip candidates</a:t>
            </a:r>
          </a:p>
        </p:txBody>
      </p:sp>
      <p:sp>
        <p:nvSpPr>
          <p:cNvPr id="24" name="Oval 23"/>
          <p:cNvSpPr/>
          <p:nvPr/>
        </p:nvSpPr>
        <p:spPr>
          <a:xfrm>
            <a:off x="5715000" y="4133087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4151375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4123944"/>
            <a:ext cx="114300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123944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Containment • overlap • access</a:t>
            </a:r>
          </a:p>
        </p:txBody>
      </p:sp>
      <p:sp>
        <p:nvSpPr>
          <p:cNvPr id="28" name="Oval 27"/>
          <p:cNvSpPr/>
          <p:nvPr/>
        </p:nvSpPr>
        <p:spPr>
          <a:xfrm>
            <a:off x="5715000" y="4773168"/>
            <a:ext cx="347472" cy="34747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0" y="4791455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764024"/>
            <a:ext cx="114300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764024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Best valid capacity + circulation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5486400"/>
            <a:ext cx="5212080" cy="45720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97880" y="5614416"/>
            <a:ext cx="4846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0284C7"/>
                </a:solidFill>
                <a:latin typeface="Aptos"/>
              </a:rPr>
              <a:t>OUTPUT: slot polygons + aisle flow + capacity 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11 —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Revenue grows as Parkbnb moves from transactions to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Start with booking demand and supply monetization; add SaaS, access control, AI operations and optimization as the network matures.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865376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892807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B2C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47088"/>
            <a:ext cx="2331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Driver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47088"/>
            <a:ext cx="6355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Convenience / service fee per booking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2670048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697479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B2B2C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651760"/>
            <a:ext cx="2331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Household / plot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6355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30% platform share on bookings*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00984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3474720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502152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456432"/>
            <a:ext cx="2331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Mall / office /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456432"/>
            <a:ext cx="6355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Setup + hardware + recurring SaaS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05656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4279392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306824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261104"/>
            <a:ext cx="2331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Developer / land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61104"/>
            <a:ext cx="6355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Optimization / design fee +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10328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084064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111496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B2G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065776"/>
            <a:ext cx="2331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Municipality / public operator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65776"/>
            <a:ext cx="6355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Implementation + managed parking 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907024"/>
            <a:ext cx="10515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NETWORK EFFECT: more verified supply → better driver coverage → more bookings → stronger owner economics → more supply.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*30% owner/platform split is a proposed pilot assumption. Validate by city and asset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12 —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We are not competing with one product. We are connecting four existing categories.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The differentiation is the integrated workflow — not a claim that every component is unique.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200400" cy="53035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20240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3632" y="1783080"/>
            <a:ext cx="1965960" cy="53035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86784" y="192024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Parking marketplace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52744" y="1783080"/>
            <a:ext cx="1965960" cy="53035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25896" y="192024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Parking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783080"/>
            <a:ext cx="1965960" cy="53035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5008" y="192024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Parking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30968" y="1783080"/>
            <a:ext cx="1965960" cy="530352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04120" y="192024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Parkbnb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04872"/>
            <a:ext cx="3200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1" y="2551176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Find / reserve parking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240487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86784" y="255117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2744" y="240487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25896" y="255117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6" y="240487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65008" y="255117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30968" y="2404872"/>
            <a:ext cx="1965960" cy="530352"/>
          </a:xfrm>
          <a:prstGeom prst="rect">
            <a:avLst/>
          </a:prstGeom>
          <a:solidFill>
            <a:srgbClr val="E0F2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04120" y="255117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284C7"/>
                </a:solidFill>
                <a:latin typeface="Aptos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971800"/>
            <a:ext cx="3200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1" y="3118104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Private space monetization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13632" y="2971800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86784" y="3118104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✓*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52744" y="2971800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25896" y="3118104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1856" y="2971800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5008" y="3118104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30968" y="2971800"/>
            <a:ext cx="1965960" cy="530352"/>
          </a:xfrm>
          <a:prstGeom prst="rect">
            <a:avLst/>
          </a:prstGeom>
          <a:solidFill>
            <a:srgbClr val="E0F2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04120" y="3118104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284C7"/>
                </a:solidFill>
                <a:latin typeface="Aptos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538728"/>
            <a:ext cx="3200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1" y="3685032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Access control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13632" y="3538728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86784" y="3685032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52744" y="3538728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25896" y="3685032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91856" y="3538728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65008" y="3685032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30968" y="3538728"/>
            <a:ext cx="1965960" cy="530352"/>
          </a:xfrm>
          <a:prstGeom prst="rect">
            <a:avLst/>
          </a:prstGeom>
          <a:solidFill>
            <a:srgbClr val="E0F2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04120" y="3685032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284C7"/>
                </a:solidFill>
                <a:latin typeface="Aptos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105656"/>
            <a:ext cx="3200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1" y="4251960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CCTV / ANPR operations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4105656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86784" y="425196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2744" y="4105656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25896" y="425196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91856" y="4105656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25196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30968" y="4105656"/>
            <a:ext cx="1965960" cy="530352"/>
          </a:xfrm>
          <a:prstGeom prst="rect">
            <a:avLst/>
          </a:prstGeom>
          <a:solidFill>
            <a:srgbClr val="E0F2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04120" y="4251960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284C7"/>
                </a:solidFill>
                <a:latin typeface="Aptos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672584"/>
            <a:ext cx="3200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3231" y="4818888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Land parking optimization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13632" y="4672584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86784" y="4818888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52744" y="4672584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25896" y="4818888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91856" y="4672584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65008" y="4818888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30968" y="4672584"/>
            <a:ext cx="1965960" cy="530352"/>
          </a:xfrm>
          <a:prstGeom prst="rect">
            <a:avLst/>
          </a:prstGeom>
          <a:solidFill>
            <a:srgbClr val="E0F2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04120" y="4818888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284C7"/>
                </a:solidFill>
                <a:latin typeface="Aptos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5239512"/>
            <a:ext cx="3200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3231" y="5385816"/>
            <a:ext cx="3054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Single connected workflow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13632" y="523951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86784" y="538581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52744" y="523951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25896" y="538581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91856" y="523951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65008" y="538581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30968" y="5239512"/>
            <a:ext cx="1965960" cy="530352"/>
          </a:xfrm>
          <a:prstGeom prst="rect">
            <a:avLst/>
          </a:prstGeom>
          <a:solidFill>
            <a:srgbClr val="E0F2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104120" y="5385816"/>
            <a:ext cx="1819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0284C7"/>
                </a:solidFill>
                <a:latin typeface="Aptos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989320"/>
            <a:ext cx="10515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*Marketplace providers can include private spaces in some markets; validate local competitor scope before presenting this table as exhaustive.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Examples: JustPark connects drivers with reservable spaces including private driveways; Get My Parking covers parking management/ANPR. citeturn0search0turn0search8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13 —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Win one destination cluster before trying to win a 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Parking is hyperlocal. Supply and demand must be dense enough around a destination to create a useful network.</a:t>
            </a:r>
          </a:p>
        </p:txBody>
      </p:sp>
      <p:sp>
        <p:nvSpPr>
          <p:cNvPr id="5" name="Oval 4"/>
          <p:cNvSpPr/>
          <p:nvPr/>
        </p:nvSpPr>
        <p:spPr>
          <a:xfrm>
            <a:off x="5166360" y="1828800"/>
            <a:ext cx="1234440" cy="12344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60" y="1847088"/>
            <a:ext cx="1234440" cy="11978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645920"/>
            <a:ext cx="20116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847088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0284C7"/>
                </a:solidFill>
                <a:latin typeface="Aptos"/>
              </a:rPr>
              <a:t>OFFICES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331720"/>
            <a:ext cx="3611880" cy="73152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69680" y="1645920"/>
            <a:ext cx="20116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1847088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Aptos"/>
              </a:rPr>
              <a:t>MARKET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760720" y="2331720"/>
            <a:ext cx="4114799" cy="73152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43000" y="4160520"/>
            <a:ext cx="20116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361688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TEMPLE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148840" y="3063240"/>
            <a:ext cx="3611880" cy="1783080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69680" y="4160520"/>
            <a:ext cx="20116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4361688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MALL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5760720" y="3063240"/>
            <a:ext cx="4114799" cy="178308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4800600"/>
            <a:ext cx="25146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5528" y="4965192"/>
            <a:ext cx="320040" cy="3200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983479"/>
            <a:ext cx="32004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919472"/>
            <a:ext cx="17830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ANCHOR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230368"/>
            <a:ext cx="22402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Partner with 1–2 high-demand destinations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4800600"/>
            <a:ext cx="25146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57016" y="4965192"/>
            <a:ext cx="320040" cy="32004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57016" y="4983479"/>
            <a:ext cx="32004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919472"/>
            <a:ext cx="17830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SUPPLY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5230368"/>
            <a:ext cx="22402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Add nearby private + commercial inventory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4800600"/>
            <a:ext cx="25146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18504" y="4965192"/>
            <a:ext cx="320040" cy="32004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4983479"/>
            <a:ext cx="32004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4919472"/>
            <a:ext cx="17830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5230368"/>
            <a:ext cx="22402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Install access / integrate CCTV where justified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0264" y="4800600"/>
            <a:ext cx="25146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079992" y="4965192"/>
            <a:ext cx="320040" cy="3200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983479"/>
            <a:ext cx="32004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616" y="4919472"/>
            <a:ext cx="17830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B2G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5230368"/>
            <a:ext cx="22402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Use operating data to approach public operators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14 — INVESTMENT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1"/>
            <a:ext cx="110185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Build the network first. Prove the economics. Then scale the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5067" y="1499615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475569"/>
                </a:solidFill>
                <a:latin typeface="Aptos"/>
              </a:rPr>
              <a:t>Funding should be tied to measurable validation milestones — not speculative city-wide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1" y="1965960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93391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0–3 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8716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07791"/>
            <a:ext cx="22628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Driver app + owner onboarding + booking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47872" y="1965960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993391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3–6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48716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07792"/>
            <a:ext cx="203406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First destination cluster + access/CCTV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8308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91072" y="1965960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1993391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6–12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48716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LIQUIDITY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907792"/>
            <a:ext cx="2006767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Repeat bookings + owner utilization + unit economics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78308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34272" y="1965960"/>
            <a:ext cx="91440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1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12–18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8716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907792"/>
            <a:ext cx="21488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B2B deployments + first B2G opportunity + optimizer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10881360" cy="150876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2834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FUNDING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82312"/>
            <a:ext cx="33832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₹1.5–2.5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98848"/>
            <a:ext cx="6217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Aptos"/>
              </a:rPr>
              <a:t>Capital converts into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28032"/>
            <a:ext cx="64465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ptos"/>
              </a:rPr>
              <a:t>product validation • hardware reliability • destination clusters • measurable marketplace liquidity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76672"/>
            <a:ext cx="6217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Target milestones are planning targets, not current traction.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15 —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Every destination needs parking. Every idle space can become supply.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Parkbnb is building the operating layer that connects the two — safely, digitally and at scale.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914400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07792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10128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Find &amp; reserve trusted parking</a:t>
            </a:r>
          </a:p>
        </p:txBody>
      </p:sp>
      <p:sp>
        <p:nvSpPr>
          <p:cNvPr id="9" name="Oval 8"/>
          <p:cNvSpPr/>
          <p:nvPr/>
        </p:nvSpPr>
        <p:spPr>
          <a:xfrm>
            <a:off x="4617720" y="1828800"/>
            <a:ext cx="914400" cy="91440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847088"/>
            <a:ext cx="914400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907792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310128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Monetize fragmented capacity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828800"/>
            <a:ext cx="914400" cy="9144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847088"/>
            <a:ext cx="914400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907792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310128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Control, monitor &amp; optimize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2286000"/>
            <a:ext cx="18745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32120" y="2286000"/>
            <a:ext cx="18745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34440" y="4572000"/>
            <a:ext cx="97383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4800600"/>
            <a:ext cx="9372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FIND  •  BOOK  •  SECURE  •  MANAGE  •  MONETIZE  •  OPTIMIZE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650992"/>
            <a:ext cx="9372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Parkbnb — Smart Parking Infrastructure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1870</Words>
  <Application>Microsoft Office PowerPoint</Application>
  <PresentationFormat>Widescreen</PresentationFormat>
  <Paragraphs>401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2026-08-14T08:24:50Z</dcterms:modified>
  <cp:category/>
</cp:coreProperties>
</file>